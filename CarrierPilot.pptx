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type="screen16x9" cy="6858000" cx="12192000"/>
  <p:notesSz cx="6858000" cy="12192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1544" autoAdjust="0"/>
    <p:restoredTop sz="94610"/>
  </p:normalViewPr>
  <p:slideViewPr>
    <p:cSldViewPr snapToGrid="0" snapToObjects="1">
      <p:cViewPr>
        <p:scale>
          <a:sx n="102" d="100"/>
          <a:sy n="102" d="100"/>
        </p:scale>
        <p:origin x="1296" y="8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tableStyles" Target="tableStyle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8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58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1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1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4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4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8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8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0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0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2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2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2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2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hyperlink" Target="https://carrier-pilot.netlify.app" TargetMode="External"/><Relationship Id="rId7" Type="http://schemas.openxmlformats.org/officeDocument/2006/relationships/hyperlink" Target="https://carrier-pilot.netlify.app/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19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82475" cy="6858000"/>
          </a:xfrm>
          <a:prstGeom prst="rect"/>
        </p:spPr>
      </p:pic>
      <p:sp>
        <p:nvSpPr>
          <p:cNvPr id="1048576" name="Text 3"/>
          <p:cNvSpPr txBox="1"/>
          <p:nvPr/>
        </p:nvSpPr>
        <p:spPr>
          <a:xfrm>
            <a:off x="604198" y="1839506"/>
            <a:ext cx="82296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600" kern="0" lang="en-US" spc="200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DSSA  •  DEPARTMENT OF AI &amp; DATA SCIENCE</a:t>
            </a:r>
            <a:endParaRPr dirty="0" sz="1600" lang="en-US"/>
          </a:p>
        </p:txBody>
      </p:sp>
      <p:sp>
        <p:nvSpPr>
          <p:cNvPr id="1048577" name="Text 5"/>
          <p:cNvSpPr txBox="1"/>
          <p:nvPr/>
        </p:nvSpPr>
        <p:spPr>
          <a:xfrm>
            <a:off x="604198" y="2354608"/>
            <a:ext cx="822960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400" kern="0" lang="en-US" spc="100">
                <a:solidFill>
                  <a:srgbClr val="6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SUBMISSION PPT  |  24-HOUR ONLINE HACKATHON</a:t>
            </a:r>
            <a:endParaRPr dirty="0" sz="1400" lang="en-US"/>
          </a:p>
        </p:txBody>
      </p:sp>
      <p:sp>
        <p:nvSpPr>
          <p:cNvPr id="1048578" name="Shape 6"/>
          <p:cNvSpPr/>
          <p:nvPr/>
        </p:nvSpPr>
        <p:spPr>
          <a:xfrm>
            <a:off x="604198" y="2778241"/>
            <a:ext cx="4206240" cy="0"/>
          </a:xfrm>
          <a:prstGeom prst="line"/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1048579" name="Text 7"/>
          <p:cNvSpPr txBox="1"/>
          <p:nvPr/>
        </p:nvSpPr>
        <p:spPr>
          <a:xfrm>
            <a:off x="604198" y="3235471"/>
            <a:ext cx="265176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dirty="0" sz="1400" lang="en-US"/>
          </a:p>
        </p:txBody>
      </p:sp>
      <p:sp>
        <p:nvSpPr>
          <p:cNvPr id="1048580" name="Text 8"/>
          <p:cNvSpPr txBox="1"/>
          <p:nvPr/>
        </p:nvSpPr>
        <p:spPr>
          <a:xfrm>
            <a:off x="3301678" y="3235471"/>
            <a:ext cx="420624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600" lang="en-US"/>
              <a:t>Team Fighter</a:t>
            </a:r>
          </a:p>
        </p:txBody>
      </p:sp>
      <p:sp>
        <p:nvSpPr>
          <p:cNvPr id="1048581" name="Text 9"/>
          <p:cNvSpPr txBox="1"/>
          <p:nvPr/>
        </p:nvSpPr>
        <p:spPr>
          <a:xfrm>
            <a:off x="604198" y="3646951"/>
            <a:ext cx="265176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 NAME</a:t>
            </a:r>
            <a:endParaRPr dirty="0" sz="1400" lang="en-US"/>
          </a:p>
        </p:txBody>
      </p:sp>
      <p:sp>
        <p:nvSpPr>
          <p:cNvPr id="1048582" name="Text 10"/>
          <p:cNvSpPr txBox="1"/>
          <p:nvPr/>
        </p:nvSpPr>
        <p:spPr>
          <a:xfrm>
            <a:off x="3311838" y="3646951"/>
            <a:ext cx="420624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600" lang="en-US"/>
              <a:t>Nikhil Amte</a:t>
            </a:r>
          </a:p>
        </p:txBody>
      </p:sp>
      <p:sp>
        <p:nvSpPr>
          <p:cNvPr id="1048583" name="Text 11"/>
          <p:cNvSpPr txBox="1"/>
          <p:nvPr/>
        </p:nvSpPr>
        <p:spPr>
          <a:xfrm>
            <a:off x="604198" y="4058431"/>
            <a:ext cx="265176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</a:t>
            </a:r>
            <a:endParaRPr dirty="0" sz="1400" lang="en-US"/>
          </a:p>
        </p:txBody>
      </p:sp>
      <p:sp>
        <p:nvSpPr>
          <p:cNvPr id="1048584" name="Text 12"/>
          <p:cNvSpPr txBox="1"/>
          <p:nvPr/>
        </p:nvSpPr>
        <p:spPr>
          <a:xfrm>
            <a:off x="3301678" y="4058431"/>
            <a:ext cx="420624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t>Personalized Career &amp; Skill Navigator Agent</a:t>
            </a:r>
            <a:endParaRPr dirty="0" sz="1600" lang="en-US"/>
          </a:p>
        </p:txBody>
      </p:sp>
      <p:sp>
        <p:nvSpPr>
          <p:cNvPr id="1048585" name="Text 13"/>
          <p:cNvSpPr txBox="1"/>
          <p:nvPr/>
        </p:nvSpPr>
        <p:spPr>
          <a:xfrm>
            <a:off x="604198" y="4469911"/>
            <a:ext cx="265176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lang="en-US">
                <a:solidFill>
                  <a:srgbClr val="1F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dirty="0" sz="1400" lang="en-US"/>
          </a:p>
        </p:txBody>
      </p:sp>
      <p:sp>
        <p:nvSpPr>
          <p:cNvPr id="1048586" name="Text 14"/>
          <p:cNvSpPr txBox="1"/>
          <p:nvPr/>
        </p:nvSpPr>
        <p:spPr>
          <a:xfrm>
            <a:off x="3301678" y="4469911"/>
            <a:ext cx="4206240" cy="32918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t>Agentic AI • Intelligent Innovation</a:t>
            </a:r>
            <a:endParaRPr dirty="0" sz="16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ext 3"/>
          <p:cNvSpPr txBox="1"/>
          <p:nvPr/>
        </p:nvSpPr>
        <p:spPr>
          <a:xfrm>
            <a:off x="11475720" y="6309360"/>
            <a:ext cx="548640" cy="36576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9F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dirty="0" sz="1100" lang="en-US"/>
          </a:p>
        </p:txBody>
      </p:sp>
      <p:sp>
        <p:nvSpPr>
          <p:cNvPr id="1048591" name="Text 4"/>
          <p:cNvSpPr txBox="1"/>
          <p:nvPr/>
        </p:nvSpPr>
        <p:spPr>
          <a:xfrm>
            <a:off x="502920" y="6510528"/>
            <a:ext cx="4572000" cy="274320"/>
          </a:xfrm>
          <a:prstGeom prst="rect"/>
          <a:noFill/>
        </p:spPr>
        <p:txBody>
          <a:bodyPr anchor="ctr" bIns="0" lIns="0" rIns="0" rtlCol="0" tIns="0" wrap="square"/>
          <a:p>
            <a:r>
              <a:t>Team Name: CarrierPilot Team</a:t>
            </a:r>
          </a:p>
        </p:txBody>
      </p:sp>
      <p:sp>
        <p:nvSpPr>
          <p:cNvPr id="1048592" name="Text 6"/>
          <p:cNvSpPr txBox="1"/>
          <p:nvPr/>
        </p:nvSpPr>
        <p:spPr>
          <a:xfrm>
            <a:off x="822960" y="3200400"/>
            <a:ext cx="2743200" cy="10058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dirty="0" sz="2600" lang="en-US"/>
          </a:p>
          <a:p>
            <a:pPr algn="ctr" indent="0" marL="0">
              <a:buNone/>
            </a:pPr>
            <a:r>
              <a:rPr b="1" dirty="0" sz="26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dirty="0" sz="2600" lang="en-US"/>
          </a:p>
        </p:txBody>
      </p:sp>
      <p:sp>
        <p:nvSpPr>
          <p:cNvPr id="1048593" name="Text 1"/>
          <p:cNvSpPr txBox="1"/>
          <p:nvPr/>
        </p:nvSpPr>
        <p:spPr>
          <a:xfrm>
            <a:off x="1245637" y="3867290"/>
            <a:ext cx="457200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dirty="0" sz="1300" lang="en-US"/>
          </a:p>
        </p:txBody>
      </p:sp>
      <p:pic>
        <p:nvPicPr>
          <p:cNvPr id="2097153" name="Picture 6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-10264"/>
            <a:ext cx="12178234" cy="6858000"/>
          </a:xfrm>
          <a:prstGeom prst="rect"/>
        </p:spPr>
      </p:pic>
      <p:sp>
        <p:nvSpPr>
          <p:cNvPr id="1048594" name="Text 2"/>
          <p:cNvSpPr txBox="1"/>
          <p:nvPr/>
        </p:nvSpPr>
        <p:spPr>
          <a:xfrm>
            <a:off x="1702837" y="1596745"/>
            <a:ext cx="2070510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</a:t>
            </a:r>
            <a:endParaRPr dirty="0" sz="2000" lang="en-US"/>
          </a:p>
        </p:txBody>
      </p:sp>
      <p:sp>
        <p:nvSpPr>
          <p:cNvPr id="1048595" name="Shape 0"/>
          <p:cNvSpPr/>
          <p:nvPr/>
        </p:nvSpPr>
        <p:spPr>
          <a:xfrm>
            <a:off x="1076681" y="1642465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</p:spPr>
        <p:txBody>
          <a:bodyPr/>
          <a:p/>
        </p:txBody>
      </p:sp>
      <p:sp>
        <p:nvSpPr>
          <p:cNvPr id="1048596" name="TextBox 73"/>
          <p:cNvSpPr txBox="1"/>
          <p:nvPr/>
        </p:nvSpPr>
        <p:spPr>
          <a:xfrm>
            <a:off x="1148026" y="1596745"/>
            <a:ext cx="314510" cy="701039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sz="2000" lang="en-US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b="1" dirty="0" sz="2000" lang="en-IN">
              <a:solidFill>
                <a:srgbClr val="0A1F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2097154" name="Picture 75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rcRect t="26894" b="34150"/>
          <a:stretch>
            <a:fillRect/>
          </a:stretch>
        </p:blipFill>
        <p:spPr>
          <a:xfrm>
            <a:off x="2694" y="73152"/>
            <a:ext cx="1766285" cy="688075"/>
          </a:xfrm>
          <a:prstGeom prst="rect"/>
        </p:spPr>
      </p:pic>
      <p:pic>
        <p:nvPicPr>
          <p:cNvPr id="2097155" name="Picture 77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11031318" y="10264"/>
            <a:ext cx="954786" cy="945276"/>
          </a:xfrm>
          <a:prstGeom prst="rect"/>
        </p:spPr>
      </p:pic>
      <p:sp>
        <p:nvSpPr>
          <p:cNvPr id="1048597" name="Text 2"/>
          <p:cNvSpPr txBox="1"/>
          <p:nvPr/>
        </p:nvSpPr>
        <p:spPr>
          <a:xfrm>
            <a:off x="1702837" y="2133193"/>
            <a:ext cx="1863323" cy="384048"/>
          </a:xfrm>
          <a:prstGeom prst="rect"/>
          <a:noFill/>
        </p:spPr>
        <p:txBody>
          <a:bodyPr anchor="ctr" bIns="0" lIns="0" rIns="0" rtlCol="0" tIns="0" wrap="square"/>
          <a:p>
            <a:r>
              <a:rPr b="1" dirty="0" sz="2000" lang="en-US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</a:t>
            </a:r>
            <a:endParaRPr dirty="0" sz="2000" lang="en-US"/>
          </a:p>
        </p:txBody>
      </p:sp>
      <p:sp>
        <p:nvSpPr>
          <p:cNvPr id="1048598" name="Shape 0"/>
          <p:cNvSpPr/>
          <p:nvPr/>
        </p:nvSpPr>
        <p:spPr>
          <a:xfrm>
            <a:off x="1085630" y="2160701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</p:spPr>
        <p:txBody>
          <a:bodyPr/>
          <a:p/>
        </p:txBody>
      </p:sp>
      <p:sp>
        <p:nvSpPr>
          <p:cNvPr id="1048599" name="TextBox 91"/>
          <p:cNvSpPr txBox="1"/>
          <p:nvPr/>
        </p:nvSpPr>
        <p:spPr>
          <a:xfrm>
            <a:off x="1156975" y="2114981"/>
            <a:ext cx="314510" cy="701039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sz="2000" lang="en-US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b="1" dirty="0" sz="2000" lang="en-IN">
              <a:solidFill>
                <a:srgbClr val="0A1F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48600" name="TextBox 92"/>
          <p:cNvSpPr txBox="1"/>
          <p:nvPr/>
        </p:nvSpPr>
        <p:spPr>
          <a:xfrm>
            <a:off x="822960" y="2788920"/>
            <a:ext cx="4754880" cy="245365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>
              <a:defRPr b="1" sz="1300">
                <a:solidFill>
                  <a:srgbClr val="17C4FF"/>
                </a:solidFill>
                <a:latin typeface="Aptos"/>
              </a:defRPr>
            </a:pPr>
            <a:r>
              <a:t>IDEA  |  CARRIERPILOT</a:t>
            </a:r>
          </a:p>
        </p:txBody>
      </p:sp>
      <p:sp>
        <p:nvSpPr>
          <p:cNvPr id="1048601" name="TextBox 93"/>
          <p:cNvSpPr txBox="1"/>
          <p:nvPr/>
        </p:nvSpPr>
        <p:spPr>
          <a:xfrm>
            <a:off x="850900" y="3247076"/>
            <a:ext cx="4754880" cy="747897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>
              <a:defRPr b="1" sz="2500">
                <a:solidFill>
                  <a:srgbClr val="F8FAFF"/>
                </a:solidFill>
                <a:latin typeface="Aptos"/>
              </a:defRPr>
            </a:pPr>
            <a:r>
              <a:rPr dirty="0" sz="2000">
                <a:solidFill>
                  <a:schemeClr val="accent2">
                    <a:lumMod val="50000"/>
                  </a:schemeClr>
                </a:solidFill>
              </a:rPr>
              <a:t>One Career Navigator.</a:t>
            </a:r>
            <a:br>
              <a:rPr dirty="0" sz="2000">
                <a:solidFill>
                  <a:schemeClr val="accent2">
                    <a:lumMod val="50000"/>
                  </a:schemeClr>
                </a:solidFill>
              </a:rPr>
            </a:br>
            <a:r>
              <a:rPr dirty="0" sz="2000">
                <a:solidFill>
                  <a:schemeClr val="accent2">
                    <a:lumMod val="50000"/>
                  </a:schemeClr>
                </a:solidFill>
              </a:rPr>
              <a:t>Every Background. Every Path</a:t>
            </a:r>
            <a:r>
              <a:rPr dirty="0"/>
              <a:t>.</a:t>
            </a:r>
          </a:p>
        </p:txBody>
      </p:sp>
      <p:sp>
        <p:nvSpPr>
          <p:cNvPr id="1048602" name="TextBox 94"/>
          <p:cNvSpPr txBox="1"/>
          <p:nvPr/>
        </p:nvSpPr>
        <p:spPr>
          <a:xfrm>
            <a:off x="822960" y="4041648"/>
            <a:ext cx="4572000" cy="626364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>
              <a:defRPr b="0" sz="1300">
                <a:solidFill>
                  <a:srgbClr val="AEB9D7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A unified platform that maps education, skills, government exams, private careers and job opportunities into actionable roadmaps.</a:t>
            </a:r>
          </a:p>
        </p:txBody>
      </p:sp>
      <p:sp>
        <p:nvSpPr>
          <p:cNvPr id="1048603" name="Rounded Rectangle 95"/>
          <p:cNvSpPr/>
          <p:nvPr/>
        </p:nvSpPr>
        <p:spPr>
          <a:xfrm>
            <a:off x="5806440" y="1417320"/>
            <a:ext cx="5166360" cy="2011680"/>
          </a:xfrm>
          <a:prstGeom prst="roundRect">
            <a:avLst>
              <a:gd name="adj" fmla="val 12000"/>
            </a:avLst>
          </a:prstGeom>
          <a:solidFill>
            <a:srgbClr val="0F1839"/>
          </a:solidFill>
          <a:ln>
            <a:solidFill>
              <a:srgbClr val="26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4" name="TextBox 96"/>
          <p:cNvSpPr txBox="1"/>
          <p:nvPr/>
        </p:nvSpPr>
        <p:spPr>
          <a:xfrm>
            <a:off x="5971031" y="1508760"/>
            <a:ext cx="4837176" cy="283465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>
              <a:defRPr b="1" sz="1500">
                <a:solidFill>
                  <a:srgbClr val="17C4FF"/>
                </a:solidFill>
                <a:latin typeface="Aptos"/>
              </a:defRPr>
            </a:pPr>
            <a:r>
              <a:t>01  PROBLEM STATEMENT</a:t>
            </a:r>
          </a:p>
        </p:txBody>
      </p:sp>
      <p:sp>
        <p:nvSpPr>
          <p:cNvPr id="1048605" name="TextBox 97"/>
          <p:cNvSpPr txBox="1"/>
          <p:nvPr/>
        </p:nvSpPr>
        <p:spPr>
          <a:xfrm>
            <a:off x="5971031" y="1705167"/>
            <a:ext cx="4837176" cy="17043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500"/>
              </a:spcAft>
              <a:defRPr sz="1200">
                <a:solidFill>
                  <a:srgbClr val="F8FAFF"/>
                </a:solidFill>
                <a:latin typeface="Aptos"/>
              </a:defRPr>
            </a:pPr>
            <a:r>
              <a:rPr dirty="0"/>
              <a:t>• Career information is fragmented across exams, colleges, job portals and skill platforms.</a:t>
            </a:r>
          </a:p>
          <a:p>
            <a:pPr>
              <a:spcAft>
                <a:spcPts val="500"/>
              </a:spcAft>
              <a:defRPr sz="1200">
                <a:solidFill>
                  <a:srgbClr val="F8FAFF"/>
                </a:solidFill>
                <a:latin typeface="Aptos"/>
              </a:defRPr>
            </a:pPr>
            <a:r>
              <a:rPr dirty="0"/>
              <a:t>• Students often know their qualification — but not the next best sequence of actions.</a:t>
            </a:r>
          </a:p>
          <a:p>
            <a:pPr>
              <a:spcAft>
                <a:spcPts val="500"/>
              </a:spcAft>
              <a:defRPr sz="1200">
                <a:solidFill>
                  <a:srgbClr val="F8FAFF"/>
                </a:solidFill>
                <a:latin typeface="Aptos"/>
              </a:defRPr>
            </a:pPr>
            <a:r>
              <a:rPr dirty="0"/>
              <a:t>• Existing tools focus on one domain (AI jobs, exams or jobs), not the complete career journey.</a:t>
            </a:r>
          </a:p>
          <a:p>
            <a:pPr>
              <a:spcAft>
                <a:spcPts val="500"/>
              </a:spcAft>
              <a:defRPr sz="1200">
                <a:solidFill>
                  <a:srgbClr val="F8FAFF"/>
                </a:solidFill>
                <a:latin typeface="Aptos"/>
              </a:defRPr>
            </a:pPr>
            <a:r>
              <a:rPr dirty="0"/>
              <a:t>• Eligibility, skills, deadlines, applications and preparation steps are difficult to connect.</a:t>
            </a:r>
          </a:p>
        </p:txBody>
      </p:sp>
      <p:sp>
        <p:nvSpPr>
          <p:cNvPr id="1048606" name="Rounded Rectangle 98"/>
          <p:cNvSpPr/>
          <p:nvPr/>
        </p:nvSpPr>
        <p:spPr>
          <a:xfrm>
            <a:off x="5806440" y="3611880"/>
            <a:ext cx="5166360" cy="2057400"/>
          </a:xfrm>
          <a:prstGeom prst="roundRect">
            <a:avLst>
              <a:gd name="adj" fmla="val 12000"/>
            </a:avLst>
          </a:prstGeom>
          <a:solidFill>
            <a:srgbClr val="0F1839"/>
          </a:solidFill>
          <a:ln>
            <a:solidFill>
              <a:srgbClr val="26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7" name="TextBox 99"/>
          <p:cNvSpPr txBox="1"/>
          <p:nvPr/>
        </p:nvSpPr>
        <p:spPr>
          <a:xfrm>
            <a:off x="5971031" y="3703320"/>
            <a:ext cx="4837176" cy="283465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>
              <a:defRPr b="1" sz="1500">
                <a:solidFill>
                  <a:srgbClr val="FFAE37"/>
                </a:solidFill>
                <a:latin typeface="Aptos"/>
              </a:defRPr>
            </a:pPr>
            <a:r>
              <a:t>02  EXISTING SOLUTION — THE GAP</a:t>
            </a:r>
          </a:p>
        </p:txBody>
      </p:sp>
      <p:sp>
        <p:nvSpPr>
          <p:cNvPr id="1048608" name="TextBox 100"/>
          <p:cNvSpPr txBox="1"/>
          <p:nvPr/>
        </p:nvSpPr>
        <p:spPr>
          <a:xfrm>
            <a:off x="5971031" y="4069080"/>
            <a:ext cx="4837176" cy="11709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500"/>
              </a:spcAft>
              <a:defRPr sz="1200">
                <a:solidFill>
                  <a:srgbClr val="F8FAFF"/>
                </a:solidFill>
                <a:latin typeface="Aptos"/>
              </a:defRPr>
            </a:pPr>
            <a:r>
              <a:t>• Government portals: official information, but limited personalized guidance.</a:t>
            </a:r>
          </a:p>
          <a:p>
            <a:pPr>
              <a:spcAft>
                <a:spcPts val="500"/>
              </a:spcAft>
              <a:defRPr sz="1200">
                <a:solidFill>
                  <a:srgbClr val="F8FAFF"/>
                </a:solidFill>
                <a:latin typeface="Aptos"/>
              </a:defRPr>
            </a:pPr>
            <a:r>
              <a:t>• Job portals: vacancies, but little education-to-career planning.</a:t>
            </a:r>
          </a:p>
          <a:p>
            <a:pPr>
              <a:spcAft>
                <a:spcPts val="500"/>
              </a:spcAft>
              <a:defRPr sz="1200">
                <a:solidFill>
                  <a:srgbClr val="F8FAFF"/>
                </a:solidFill>
                <a:latin typeface="Aptos"/>
              </a:defRPr>
            </a:pPr>
            <a:r>
              <a:t>• Learning platforms: courses, but weak links to real opportunities.</a:t>
            </a:r>
          </a:p>
          <a:p>
            <a:pPr>
              <a:spcAft>
                <a:spcPts val="500"/>
              </a:spcAft>
              <a:defRPr sz="1200">
                <a:solidFill>
                  <a:srgbClr val="F8FAFF"/>
                </a:solidFill>
                <a:latin typeface="Aptos"/>
              </a:defRPr>
            </a:pPr>
            <a:r>
              <a:t>• Career counsellors: useful, but difficult to scale to every learner.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ext 3"/>
          <p:cNvSpPr txBox="1"/>
          <p:nvPr/>
        </p:nvSpPr>
        <p:spPr>
          <a:xfrm>
            <a:off x="11475720" y="6309360"/>
            <a:ext cx="548640" cy="36576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9F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dirty="0" sz="1100" lang="en-US"/>
          </a:p>
        </p:txBody>
      </p:sp>
      <p:sp>
        <p:nvSpPr>
          <p:cNvPr id="1048613" name="Text 4"/>
          <p:cNvSpPr txBox="1"/>
          <p:nvPr/>
        </p:nvSpPr>
        <p:spPr>
          <a:xfrm>
            <a:off x="502920" y="6510528"/>
            <a:ext cx="4572000" cy="274320"/>
          </a:xfrm>
          <a:prstGeom prst="rect"/>
          <a:noFill/>
        </p:spPr>
        <p:txBody>
          <a:bodyPr anchor="ctr" bIns="0" lIns="0" rIns="0" rtlCol="0" tIns="0" wrap="square"/>
          <a:p>
            <a:r>
              <a:t>Team Name: CarrierPilot Team</a:t>
            </a:r>
          </a:p>
        </p:txBody>
      </p:sp>
      <p:pic>
        <p:nvPicPr>
          <p:cNvPr id="2097156" name="Picture 25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-4894" y="-10264"/>
            <a:ext cx="12178234" cy="6858000"/>
          </a:xfrm>
          <a:prstGeom prst="rect"/>
        </p:spPr>
      </p:pic>
      <p:pic>
        <p:nvPicPr>
          <p:cNvPr id="2097157" name="Picture 27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rcRect t="26894" b="34150"/>
          <a:stretch>
            <a:fillRect/>
          </a:stretch>
        </p:blipFill>
        <p:spPr>
          <a:xfrm>
            <a:off x="2694" y="73152"/>
            <a:ext cx="1766285" cy="688075"/>
          </a:xfrm>
          <a:prstGeom prst="rect"/>
        </p:spPr>
      </p:pic>
      <p:pic>
        <p:nvPicPr>
          <p:cNvPr id="2097158" name="Picture 29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11031318" y="10264"/>
            <a:ext cx="954786" cy="945276"/>
          </a:xfrm>
          <a:prstGeom prst="rect"/>
        </p:spPr>
      </p:pic>
      <p:sp>
        <p:nvSpPr>
          <p:cNvPr id="1048614" name="Text 2"/>
          <p:cNvSpPr txBox="1"/>
          <p:nvPr/>
        </p:nvSpPr>
        <p:spPr>
          <a:xfrm>
            <a:off x="1702837" y="1596745"/>
            <a:ext cx="2070510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dirty="0" sz="2000" lang="en-US"/>
          </a:p>
        </p:txBody>
      </p:sp>
      <p:sp>
        <p:nvSpPr>
          <p:cNvPr id="1048615" name="Shape 0"/>
          <p:cNvSpPr/>
          <p:nvPr/>
        </p:nvSpPr>
        <p:spPr>
          <a:xfrm>
            <a:off x="1076681" y="1642465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</p:spPr>
        <p:txBody>
          <a:bodyPr/>
          <a:p/>
        </p:txBody>
      </p:sp>
      <p:sp>
        <p:nvSpPr>
          <p:cNvPr id="1048616" name="TextBox 35"/>
          <p:cNvSpPr txBox="1"/>
          <p:nvPr/>
        </p:nvSpPr>
        <p:spPr>
          <a:xfrm>
            <a:off x="1148026" y="1596745"/>
            <a:ext cx="314510" cy="701039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sz="2000" lang="en-US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b="1" dirty="0" sz="2000" lang="en-IN">
              <a:solidFill>
                <a:srgbClr val="0A1F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48617" name="TextBox 36"/>
          <p:cNvSpPr txBox="1"/>
          <p:nvPr/>
        </p:nvSpPr>
        <p:spPr>
          <a:xfrm>
            <a:off x="822960" y="2057400"/>
            <a:ext cx="10241280" cy="473964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>
              <a:defRPr b="1" sz="2800">
                <a:solidFill>
                  <a:srgbClr val="17C4FF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1048618" name="TextBox 37"/>
          <p:cNvSpPr txBox="1"/>
          <p:nvPr/>
        </p:nvSpPr>
        <p:spPr>
          <a:xfrm>
            <a:off x="822960" y="2578608"/>
            <a:ext cx="10058400" cy="301621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>
              <a:defRPr b="0" sz="1600">
                <a:solidFill>
                  <a:srgbClr val="F8FAFF"/>
                </a:solidFill>
                <a:latin typeface="Aptos"/>
              </a:defRPr>
            </a:pP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CarrierPilot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turns a learner profile into a practical, opportunity-linked career plan.</a:t>
            </a:r>
          </a:p>
        </p:txBody>
      </p:sp>
      <p:sp>
        <p:nvSpPr>
          <p:cNvPr id="1048619" name="Rounded Rectangle 38"/>
          <p:cNvSpPr/>
          <p:nvPr/>
        </p:nvSpPr>
        <p:spPr>
          <a:xfrm>
            <a:off x="822960" y="3246120"/>
            <a:ext cx="3246120" cy="1078992"/>
          </a:xfrm>
          <a:prstGeom prst="roundRect">
            <a:avLst>
              <a:gd name="adj" fmla="val 12000"/>
            </a:avLst>
          </a:prstGeom>
          <a:solidFill>
            <a:srgbClr val="0F1839"/>
          </a:solidFill>
          <a:ln>
            <a:solidFill>
              <a:srgbClr val="2A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0" name="TextBox 39"/>
          <p:cNvSpPr txBox="1"/>
          <p:nvPr/>
        </p:nvSpPr>
        <p:spPr>
          <a:xfrm>
            <a:off x="960120" y="3337560"/>
            <a:ext cx="347472" cy="258064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 algn="ctr">
              <a:defRPr b="1" sz="1400">
                <a:solidFill>
                  <a:srgbClr val="17C4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48621" name="TextBox 40"/>
          <p:cNvSpPr txBox="1"/>
          <p:nvPr/>
        </p:nvSpPr>
        <p:spPr>
          <a:xfrm>
            <a:off x="1389888" y="3310127"/>
            <a:ext cx="2514600" cy="245364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>
              <a:defRPr b="1" sz="1300">
                <a:solidFill>
                  <a:srgbClr val="F8FAFF"/>
                </a:solidFill>
                <a:latin typeface="Aptos"/>
              </a:defRPr>
            </a:pPr>
            <a:r>
              <a:t>SMART PROFILE</a:t>
            </a:r>
          </a:p>
        </p:txBody>
      </p:sp>
      <p:sp>
        <p:nvSpPr>
          <p:cNvPr id="1048622" name="TextBox 41"/>
          <p:cNvSpPr txBox="1"/>
          <p:nvPr/>
        </p:nvSpPr>
        <p:spPr>
          <a:xfrm>
            <a:off x="1389888" y="3657600"/>
            <a:ext cx="2487168" cy="334264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>
              <a:defRPr b="0" sz="1050">
                <a:solidFill>
                  <a:srgbClr val="AEB9D7"/>
                </a:solidFill>
                <a:latin typeface="Aptos"/>
              </a:defRPr>
            </a:pPr>
            <a:r>
              <a:t>Qualification • stream • stage • location • skills • career goal</a:t>
            </a:r>
          </a:p>
        </p:txBody>
      </p:sp>
      <p:sp>
        <p:nvSpPr>
          <p:cNvPr id="1048623" name="Rounded Rectangle 42"/>
          <p:cNvSpPr/>
          <p:nvPr/>
        </p:nvSpPr>
        <p:spPr>
          <a:xfrm>
            <a:off x="4434840" y="3246120"/>
            <a:ext cx="3246120" cy="1078992"/>
          </a:xfrm>
          <a:prstGeom prst="roundRect">
            <a:avLst>
              <a:gd name="adj" fmla="val 12000"/>
            </a:avLst>
          </a:prstGeom>
          <a:solidFill>
            <a:srgbClr val="0F1839"/>
          </a:solidFill>
          <a:ln>
            <a:solidFill>
              <a:srgbClr val="2A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4" name="TextBox 43"/>
          <p:cNvSpPr txBox="1"/>
          <p:nvPr/>
        </p:nvSpPr>
        <p:spPr>
          <a:xfrm>
            <a:off x="4572000" y="3337560"/>
            <a:ext cx="347472" cy="258064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 algn="ctr">
              <a:defRPr b="1" sz="1400">
                <a:solidFill>
                  <a:srgbClr val="4655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48625" name="TextBox 44"/>
          <p:cNvSpPr txBox="1"/>
          <p:nvPr/>
        </p:nvSpPr>
        <p:spPr>
          <a:xfrm>
            <a:off x="5001768" y="3310127"/>
            <a:ext cx="2514600" cy="245364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>
              <a:defRPr b="1" sz="1300">
                <a:solidFill>
                  <a:srgbClr val="F8FAFF"/>
                </a:solidFill>
                <a:latin typeface="Aptos"/>
              </a:defRPr>
            </a:pPr>
            <a:r>
              <a:t>CAREER EXPLORER</a:t>
            </a:r>
          </a:p>
        </p:txBody>
      </p:sp>
      <p:sp>
        <p:nvSpPr>
          <p:cNvPr id="1048626" name="TextBox 45"/>
          <p:cNvSpPr txBox="1"/>
          <p:nvPr/>
        </p:nvSpPr>
        <p:spPr>
          <a:xfrm>
            <a:off x="5001768" y="3657600"/>
            <a:ext cx="2487168" cy="473964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>
              <a:defRPr b="0" sz="1050">
                <a:solidFill>
                  <a:srgbClr val="AEB9D7"/>
                </a:solidFill>
                <a:latin typeface="Aptos"/>
              </a:defRPr>
            </a:pPr>
            <a:r>
              <a:t>UPSC • MPSC • SSC • banking • defence • teaching • private • technical • healthcare • entrepreneurship</a:t>
            </a:r>
          </a:p>
        </p:txBody>
      </p:sp>
      <p:sp>
        <p:nvSpPr>
          <p:cNvPr id="1048627" name="Rounded Rectangle 46"/>
          <p:cNvSpPr/>
          <p:nvPr/>
        </p:nvSpPr>
        <p:spPr>
          <a:xfrm>
            <a:off x="8046720" y="3246120"/>
            <a:ext cx="3246120" cy="1078992"/>
          </a:xfrm>
          <a:prstGeom prst="roundRect">
            <a:avLst>
              <a:gd name="adj" fmla="val 12000"/>
            </a:avLst>
          </a:prstGeom>
          <a:solidFill>
            <a:srgbClr val="0F1839"/>
          </a:solidFill>
          <a:ln>
            <a:solidFill>
              <a:srgbClr val="2A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8" name="TextBox 47"/>
          <p:cNvSpPr txBox="1"/>
          <p:nvPr/>
        </p:nvSpPr>
        <p:spPr>
          <a:xfrm>
            <a:off x="8183880" y="3337560"/>
            <a:ext cx="347472" cy="258064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 algn="ctr">
              <a:defRPr b="1" sz="1400">
                <a:solidFill>
                  <a:srgbClr val="A84B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048629" name="TextBox 48"/>
          <p:cNvSpPr txBox="1"/>
          <p:nvPr/>
        </p:nvSpPr>
        <p:spPr>
          <a:xfrm>
            <a:off x="8613648" y="3310127"/>
            <a:ext cx="2514600" cy="245364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>
              <a:defRPr b="1" sz="1300">
                <a:solidFill>
                  <a:srgbClr val="F8FAFF"/>
                </a:solidFill>
                <a:latin typeface="Aptos"/>
              </a:defRPr>
            </a:pPr>
            <a:r>
              <a:t>ROADMAP ENGINE</a:t>
            </a:r>
          </a:p>
        </p:txBody>
      </p:sp>
      <p:sp>
        <p:nvSpPr>
          <p:cNvPr id="1048630" name="TextBox 49"/>
          <p:cNvSpPr txBox="1"/>
          <p:nvPr/>
        </p:nvSpPr>
        <p:spPr>
          <a:xfrm>
            <a:off x="8613648" y="3657600"/>
            <a:ext cx="2487168" cy="334264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>
              <a:defRPr b="0" sz="1050">
                <a:solidFill>
                  <a:srgbClr val="AEB9D7"/>
                </a:solidFill>
                <a:latin typeface="Aptos"/>
              </a:defRPr>
            </a:pPr>
            <a:r>
              <a:t>Eligibility → skills → preparation → application → selection → next steps</a:t>
            </a:r>
          </a:p>
        </p:txBody>
      </p:sp>
      <p:sp>
        <p:nvSpPr>
          <p:cNvPr id="1048631" name="Rounded Rectangle 50"/>
          <p:cNvSpPr/>
          <p:nvPr/>
        </p:nvSpPr>
        <p:spPr>
          <a:xfrm>
            <a:off x="822960" y="4572000"/>
            <a:ext cx="3246120" cy="1078992"/>
          </a:xfrm>
          <a:prstGeom prst="roundRect">
            <a:avLst>
              <a:gd name="adj" fmla="val 12000"/>
            </a:avLst>
          </a:prstGeom>
          <a:solidFill>
            <a:srgbClr val="0F1839"/>
          </a:solidFill>
          <a:ln>
            <a:solidFill>
              <a:srgbClr val="2A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2" name="TextBox 51"/>
          <p:cNvSpPr txBox="1"/>
          <p:nvPr/>
        </p:nvSpPr>
        <p:spPr>
          <a:xfrm>
            <a:off x="960120" y="4663440"/>
            <a:ext cx="347472" cy="258065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 algn="ctr">
              <a:defRPr b="1" sz="1400">
                <a:solidFill>
                  <a:srgbClr val="FFAE3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048633" name="TextBox 52"/>
          <p:cNvSpPr txBox="1"/>
          <p:nvPr/>
        </p:nvSpPr>
        <p:spPr>
          <a:xfrm>
            <a:off x="1389888" y="4636008"/>
            <a:ext cx="2514600" cy="245365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>
              <a:defRPr b="1" sz="1300">
                <a:solidFill>
                  <a:srgbClr val="F8FAFF"/>
                </a:solidFill>
                <a:latin typeface="Aptos"/>
              </a:defRPr>
            </a:pPr>
            <a:r>
              <a:t>JOB OPPORTUNITIES</a:t>
            </a:r>
          </a:p>
        </p:txBody>
      </p:sp>
      <p:sp>
        <p:nvSpPr>
          <p:cNvPr id="1048634" name="TextBox 53"/>
          <p:cNvSpPr txBox="1"/>
          <p:nvPr/>
        </p:nvSpPr>
        <p:spPr>
          <a:xfrm>
            <a:off x="1389888" y="4983480"/>
            <a:ext cx="2487168" cy="334264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>
              <a:defRPr b="0" sz="1050">
                <a:solidFill>
                  <a:srgbClr val="AEB9D7"/>
                </a:solidFill>
                <a:latin typeface="Aptos"/>
              </a:defRPr>
            </a:pPr>
            <a:r>
              <a:t>Role requirements • experience • location • posting/deadline • official application route</a:t>
            </a:r>
          </a:p>
        </p:txBody>
      </p:sp>
      <p:sp>
        <p:nvSpPr>
          <p:cNvPr id="1048635" name="Rounded Rectangle 54"/>
          <p:cNvSpPr/>
          <p:nvPr/>
        </p:nvSpPr>
        <p:spPr>
          <a:xfrm>
            <a:off x="4434840" y="4572000"/>
            <a:ext cx="3246120" cy="1078992"/>
          </a:xfrm>
          <a:prstGeom prst="roundRect">
            <a:avLst>
              <a:gd name="adj" fmla="val 12000"/>
            </a:avLst>
          </a:prstGeom>
          <a:solidFill>
            <a:srgbClr val="0F1839"/>
          </a:solidFill>
          <a:ln>
            <a:solidFill>
              <a:srgbClr val="2A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6" name="TextBox 55"/>
          <p:cNvSpPr txBox="1"/>
          <p:nvPr/>
        </p:nvSpPr>
        <p:spPr>
          <a:xfrm>
            <a:off x="4572000" y="4663440"/>
            <a:ext cx="347472" cy="258065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 algn="ctr">
              <a:defRPr b="1" sz="1400">
                <a:solidFill>
                  <a:srgbClr val="23DC8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048637" name="TextBox 56"/>
          <p:cNvSpPr txBox="1"/>
          <p:nvPr/>
        </p:nvSpPr>
        <p:spPr>
          <a:xfrm>
            <a:off x="5001768" y="4636008"/>
            <a:ext cx="2514600" cy="245365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>
              <a:defRPr b="1" sz="1300">
                <a:solidFill>
                  <a:srgbClr val="F8FAFF"/>
                </a:solidFill>
                <a:latin typeface="Aptos"/>
              </a:defRPr>
            </a:pPr>
            <a:r>
              <a:t>AI ASSISTANT</a:t>
            </a:r>
          </a:p>
        </p:txBody>
      </p:sp>
      <p:sp>
        <p:nvSpPr>
          <p:cNvPr id="1048638" name="TextBox 57"/>
          <p:cNvSpPr txBox="1"/>
          <p:nvPr/>
        </p:nvSpPr>
        <p:spPr>
          <a:xfrm>
            <a:off x="5001768" y="4983480"/>
            <a:ext cx="2487168" cy="334264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>
              <a:defRPr b="0" sz="1050">
                <a:solidFill>
                  <a:srgbClr val="AEB9D7"/>
                </a:solidFill>
                <a:latin typeface="Aptos"/>
              </a:defRPr>
            </a:pPr>
            <a:r>
              <a:t>General Q&amp;A • study help • coding • maths • career guidance • follow-up questions</a:t>
            </a:r>
          </a:p>
        </p:txBody>
      </p:sp>
      <p:sp>
        <p:nvSpPr>
          <p:cNvPr id="1048639" name="Rounded Rectangle 58"/>
          <p:cNvSpPr/>
          <p:nvPr/>
        </p:nvSpPr>
        <p:spPr>
          <a:xfrm>
            <a:off x="8046720" y="4572000"/>
            <a:ext cx="3246120" cy="1078992"/>
          </a:xfrm>
          <a:prstGeom prst="roundRect">
            <a:avLst>
              <a:gd name="adj" fmla="val 12000"/>
            </a:avLst>
          </a:prstGeom>
          <a:solidFill>
            <a:srgbClr val="0F1839"/>
          </a:solidFill>
          <a:ln>
            <a:solidFill>
              <a:srgbClr val="2A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0" name="TextBox 59"/>
          <p:cNvSpPr txBox="1"/>
          <p:nvPr/>
        </p:nvSpPr>
        <p:spPr>
          <a:xfrm>
            <a:off x="8183880" y="4663440"/>
            <a:ext cx="347472" cy="258065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 algn="ctr">
              <a:defRPr b="1" sz="1400">
                <a:solidFill>
                  <a:srgbClr val="17C4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048641" name="TextBox 60"/>
          <p:cNvSpPr txBox="1"/>
          <p:nvPr/>
        </p:nvSpPr>
        <p:spPr>
          <a:xfrm>
            <a:off x="8613648" y="4636008"/>
            <a:ext cx="2514600" cy="245365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>
              <a:defRPr b="1" sz="1300">
                <a:solidFill>
                  <a:srgbClr val="F8FAFF"/>
                </a:solidFill>
                <a:latin typeface="Aptos"/>
              </a:defRPr>
            </a:pPr>
            <a:r>
              <a:t>PERSONALIZATION</a:t>
            </a:r>
          </a:p>
        </p:txBody>
      </p:sp>
      <p:sp>
        <p:nvSpPr>
          <p:cNvPr id="1048642" name="TextBox 61"/>
          <p:cNvSpPr txBox="1"/>
          <p:nvPr/>
        </p:nvSpPr>
        <p:spPr>
          <a:xfrm>
            <a:off x="8613648" y="4983480"/>
            <a:ext cx="2487168" cy="334264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>
              <a:defRPr b="0" sz="1050">
                <a:solidFill>
                  <a:srgbClr val="AEB9D7"/>
                </a:solidFill>
                <a:latin typeface="Aptos"/>
              </a:defRPr>
            </a:pPr>
            <a:r>
              <a:t>Uses the saved profile to surface relevant opportunities and skill gaps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Text 3"/>
          <p:cNvSpPr txBox="1"/>
          <p:nvPr/>
        </p:nvSpPr>
        <p:spPr>
          <a:xfrm>
            <a:off x="11475720" y="6309360"/>
            <a:ext cx="548640" cy="36576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9F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dirty="0" sz="1100" lang="en-US"/>
          </a:p>
        </p:txBody>
      </p:sp>
      <p:sp>
        <p:nvSpPr>
          <p:cNvPr id="1048647" name="Text 4"/>
          <p:cNvSpPr txBox="1"/>
          <p:nvPr/>
        </p:nvSpPr>
        <p:spPr>
          <a:xfrm>
            <a:off x="502920" y="6510528"/>
            <a:ext cx="4572000" cy="274320"/>
          </a:xfrm>
          <a:prstGeom prst="rect"/>
          <a:noFill/>
        </p:spPr>
        <p:txBody>
          <a:bodyPr anchor="ctr" bIns="0" lIns="0" rIns="0" rtlCol="0" tIns="0" wrap="square"/>
          <a:p>
            <a:r>
              <a:t>Team Name: CarrierPilot Team</a:t>
            </a:r>
          </a:p>
        </p:txBody>
      </p:sp>
      <p:pic>
        <p:nvPicPr>
          <p:cNvPr id="2097159" name="Picture 2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-4894" y="-10264"/>
            <a:ext cx="12178234" cy="6858000"/>
          </a:xfrm>
          <a:prstGeom prst="rect"/>
        </p:spPr>
      </p:pic>
      <p:pic>
        <p:nvPicPr>
          <p:cNvPr id="2097160" name="Picture 26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rcRect t="26894" b="34150"/>
          <a:stretch>
            <a:fillRect/>
          </a:stretch>
        </p:blipFill>
        <p:spPr>
          <a:xfrm>
            <a:off x="2694" y="73152"/>
            <a:ext cx="1766285" cy="688075"/>
          </a:xfrm>
          <a:prstGeom prst="rect"/>
        </p:spPr>
      </p:pic>
      <p:pic>
        <p:nvPicPr>
          <p:cNvPr id="2097161" name="Picture 28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11031318" y="10264"/>
            <a:ext cx="954786" cy="945276"/>
          </a:xfrm>
          <a:prstGeom prst="rect"/>
        </p:spPr>
      </p:pic>
      <p:sp>
        <p:nvSpPr>
          <p:cNvPr id="1048648" name="Text 2"/>
          <p:cNvSpPr txBox="1"/>
          <p:nvPr/>
        </p:nvSpPr>
        <p:spPr>
          <a:xfrm>
            <a:off x="1702836" y="1666035"/>
            <a:ext cx="5642843" cy="274320"/>
          </a:xfrm>
          <a:prstGeom prst="rect"/>
          <a:noFill/>
        </p:spPr>
        <p:txBody>
          <a:bodyPr anchor="ctr" bIns="0" lIns="0" rIns="0" rtlCol="0" tIns="0" wrap="square"/>
          <a:p>
            <a:r>
              <a:rPr b="1" dirty="0" sz="2000" lang="en-US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Architecture/Block diagram/Flow Diagram</a:t>
            </a:r>
            <a:endParaRPr dirty="0" sz="2000" lang="en-US"/>
          </a:p>
        </p:txBody>
      </p:sp>
      <p:sp>
        <p:nvSpPr>
          <p:cNvPr id="1048649" name="Shape 0"/>
          <p:cNvSpPr/>
          <p:nvPr/>
        </p:nvSpPr>
        <p:spPr>
          <a:xfrm>
            <a:off x="1076681" y="1642465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</p:spPr>
        <p:txBody>
          <a:bodyPr/>
          <a:p/>
        </p:txBody>
      </p:sp>
      <p:sp>
        <p:nvSpPr>
          <p:cNvPr id="1048650" name="TextBox 34"/>
          <p:cNvSpPr txBox="1"/>
          <p:nvPr/>
        </p:nvSpPr>
        <p:spPr>
          <a:xfrm>
            <a:off x="1148026" y="1596745"/>
            <a:ext cx="314510" cy="701039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sz="2000" lang="en-US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b="1" dirty="0" sz="2000" lang="en-IN">
              <a:solidFill>
                <a:srgbClr val="0A1F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48651" name="TextBox 35"/>
          <p:cNvSpPr txBox="1"/>
          <p:nvPr/>
        </p:nvSpPr>
        <p:spPr>
          <a:xfrm>
            <a:off x="822960" y="2029968"/>
            <a:ext cx="10058400" cy="411480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>
              <a:defRPr b="1" sz="2500">
                <a:solidFill>
                  <a:srgbClr val="17C4FF"/>
                </a:solidFill>
                <a:latin typeface="Aptos"/>
              </a:defRPr>
            </a:pPr>
            <a:r>
              <a:t>SYSTEM ARCHITECTURE &amp; USER FLOW</a:t>
            </a:r>
          </a:p>
        </p:txBody>
      </p:sp>
      <p:sp>
        <p:nvSpPr>
          <p:cNvPr id="1048652" name="Rounded Rectangle 36"/>
          <p:cNvSpPr/>
          <p:nvPr/>
        </p:nvSpPr>
        <p:spPr>
          <a:xfrm>
            <a:off x="685800" y="274320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0F1839"/>
          </a:solidFill>
          <a:ln>
            <a:solidFill>
              <a:srgbClr val="2B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3" name="TextBox 37"/>
          <p:cNvSpPr txBox="1"/>
          <p:nvPr/>
        </p:nvSpPr>
        <p:spPr>
          <a:xfrm>
            <a:off x="777240" y="2907792"/>
            <a:ext cx="1691639" cy="219965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 algn="ctr">
              <a:defRPr b="1" sz="1150">
                <a:solidFill>
                  <a:srgbClr val="17C4FF"/>
                </a:solidFill>
                <a:latin typeface="Aptos"/>
              </a:defRPr>
            </a:pPr>
            <a:r>
              <a:t>USER PROFILE</a:t>
            </a:r>
          </a:p>
        </p:txBody>
      </p:sp>
      <p:sp>
        <p:nvSpPr>
          <p:cNvPr id="1048654" name="TextBox 38"/>
          <p:cNvSpPr txBox="1"/>
          <p:nvPr/>
        </p:nvSpPr>
        <p:spPr>
          <a:xfrm>
            <a:off x="795528" y="3310128"/>
            <a:ext cx="1655063" cy="181865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 algn="ctr">
              <a:defRPr b="0" sz="950">
                <a:solidFill>
                  <a:srgbClr val="F8FAFF"/>
                </a:solidFill>
                <a:latin typeface="Aptos"/>
              </a:defRPr>
            </a:pPr>
            <a:r>
              <a:t>Education • skills • goal</a:t>
            </a:r>
          </a:p>
        </p:txBody>
      </p:sp>
      <p:sp>
        <p:nvSpPr>
          <p:cNvPr id="1048655" name="TextBox 39"/>
          <p:cNvSpPr txBox="1"/>
          <p:nvPr/>
        </p:nvSpPr>
        <p:spPr>
          <a:xfrm>
            <a:off x="2542032" y="3172968"/>
            <a:ext cx="457200" cy="365760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 algn="ctr">
              <a:defRPr b="1" sz="2200">
                <a:solidFill>
                  <a:srgbClr val="17C4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48656" name="Rounded Rectangle 40"/>
          <p:cNvSpPr/>
          <p:nvPr/>
        </p:nvSpPr>
        <p:spPr>
          <a:xfrm>
            <a:off x="2971800" y="2743200"/>
            <a:ext cx="2148840" cy="1417320"/>
          </a:xfrm>
          <a:prstGeom prst="roundRect">
            <a:avLst>
              <a:gd name="adj" fmla="val 12000"/>
            </a:avLst>
          </a:prstGeom>
          <a:solidFill>
            <a:srgbClr val="0F1839"/>
          </a:solidFill>
          <a:ln>
            <a:solidFill>
              <a:srgbClr val="2B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7" name="TextBox 41"/>
          <p:cNvSpPr txBox="1"/>
          <p:nvPr/>
        </p:nvSpPr>
        <p:spPr>
          <a:xfrm>
            <a:off x="3063240" y="2907792"/>
            <a:ext cx="1965960" cy="219965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 algn="ctr">
              <a:defRPr b="1" sz="1150">
                <a:solidFill>
                  <a:srgbClr val="4655FF"/>
                </a:solidFill>
                <a:latin typeface="Aptos"/>
              </a:defRPr>
            </a:pPr>
            <a:r>
              <a:t>CARRIERPILOT CORE</a:t>
            </a:r>
          </a:p>
        </p:txBody>
      </p:sp>
      <p:sp>
        <p:nvSpPr>
          <p:cNvPr id="1048658" name="TextBox 42"/>
          <p:cNvSpPr txBox="1"/>
          <p:nvPr/>
        </p:nvSpPr>
        <p:spPr>
          <a:xfrm>
            <a:off x="3081528" y="3310128"/>
            <a:ext cx="1929384" cy="308865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 algn="ctr">
              <a:defRPr b="0" sz="950">
                <a:solidFill>
                  <a:srgbClr val="F8FAFF"/>
                </a:solidFill>
                <a:latin typeface="Aptos"/>
              </a:defRPr>
            </a:pPr>
            <a:r>
              <a:t>Rules + career catalogue + personalization</a:t>
            </a:r>
          </a:p>
        </p:txBody>
      </p:sp>
      <p:sp>
        <p:nvSpPr>
          <p:cNvPr id="1048659" name="TextBox 43"/>
          <p:cNvSpPr txBox="1"/>
          <p:nvPr/>
        </p:nvSpPr>
        <p:spPr>
          <a:xfrm>
            <a:off x="5102352" y="3172968"/>
            <a:ext cx="457200" cy="365760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 algn="ctr">
              <a:defRPr b="1" sz="2200">
                <a:solidFill>
                  <a:srgbClr val="4655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48660" name="Rounded Rectangle 44"/>
          <p:cNvSpPr/>
          <p:nvPr/>
        </p:nvSpPr>
        <p:spPr>
          <a:xfrm>
            <a:off x="5532120" y="2743200"/>
            <a:ext cx="2148840" cy="1417320"/>
          </a:xfrm>
          <a:prstGeom prst="roundRect">
            <a:avLst>
              <a:gd name="adj" fmla="val 12000"/>
            </a:avLst>
          </a:prstGeom>
          <a:solidFill>
            <a:srgbClr val="0F1839"/>
          </a:solidFill>
          <a:ln>
            <a:solidFill>
              <a:srgbClr val="2B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1" name="TextBox 45"/>
          <p:cNvSpPr txBox="1"/>
          <p:nvPr/>
        </p:nvSpPr>
        <p:spPr>
          <a:xfrm>
            <a:off x="5623559" y="2907792"/>
            <a:ext cx="1965960" cy="219965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 algn="ctr">
              <a:defRPr b="1" sz="1150">
                <a:solidFill>
                  <a:srgbClr val="A84BFF"/>
                </a:solidFill>
                <a:latin typeface="Aptos"/>
              </a:defRPr>
            </a:pPr>
            <a:r>
              <a:t>AI ASSISTANT</a:t>
            </a:r>
          </a:p>
        </p:txBody>
      </p:sp>
      <p:sp>
        <p:nvSpPr>
          <p:cNvPr id="1048662" name="TextBox 46"/>
          <p:cNvSpPr txBox="1"/>
          <p:nvPr/>
        </p:nvSpPr>
        <p:spPr>
          <a:xfrm>
            <a:off x="5641848" y="3310128"/>
            <a:ext cx="1929384" cy="308865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 algn="ctr">
              <a:defRPr b="0" sz="950">
                <a:solidFill>
                  <a:srgbClr val="F8FAFF"/>
                </a:solidFill>
                <a:latin typeface="Aptos"/>
              </a:defRPr>
            </a:pPr>
            <a:r>
              <a:t>Natural-language Q&amp;A + explanations</a:t>
            </a:r>
          </a:p>
        </p:txBody>
      </p:sp>
      <p:sp>
        <p:nvSpPr>
          <p:cNvPr id="1048663" name="TextBox 47"/>
          <p:cNvSpPr txBox="1"/>
          <p:nvPr/>
        </p:nvSpPr>
        <p:spPr>
          <a:xfrm>
            <a:off x="7662672" y="3172968"/>
            <a:ext cx="457200" cy="365760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 algn="ctr">
              <a:defRPr b="1" sz="2200">
                <a:solidFill>
                  <a:srgbClr val="A84B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48664" name="Rounded Rectangle 48"/>
          <p:cNvSpPr/>
          <p:nvPr/>
        </p:nvSpPr>
        <p:spPr>
          <a:xfrm>
            <a:off x="8138160" y="274320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0F1839"/>
          </a:solidFill>
          <a:ln>
            <a:solidFill>
              <a:srgbClr val="2B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5" name="TextBox 49"/>
          <p:cNvSpPr txBox="1"/>
          <p:nvPr/>
        </p:nvSpPr>
        <p:spPr>
          <a:xfrm>
            <a:off x="8229600" y="2907792"/>
            <a:ext cx="1691639" cy="219965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 algn="ctr">
              <a:defRPr b="1" sz="1150">
                <a:solidFill>
                  <a:srgbClr val="FFAE37"/>
                </a:solidFill>
                <a:latin typeface="Aptos"/>
              </a:defRPr>
            </a:pPr>
            <a:r>
              <a:t>OPPORTUNITY ENGINE</a:t>
            </a:r>
          </a:p>
        </p:txBody>
      </p:sp>
      <p:sp>
        <p:nvSpPr>
          <p:cNvPr id="1048666" name="TextBox 50"/>
          <p:cNvSpPr txBox="1"/>
          <p:nvPr/>
        </p:nvSpPr>
        <p:spPr>
          <a:xfrm>
            <a:off x="8247888" y="3310128"/>
            <a:ext cx="1655063" cy="308865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 algn="ctr">
              <a:defRPr b="0" sz="950">
                <a:solidFill>
                  <a:srgbClr val="F8FAFF"/>
                </a:solidFill>
                <a:latin typeface="Aptos"/>
              </a:defRPr>
            </a:pPr>
            <a:r>
              <a:t>Exams • careers • jobs • colleges</a:t>
            </a:r>
          </a:p>
        </p:txBody>
      </p:sp>
      <p:sp>
        <p:nvSpPr>
          <p:cNvPr id="1048667" name="TextBox 51"/>
          <p:cNvSpPr txBox="1"/>
          <p:nvPr/>
        </p:nvSpPr>
        <p:spPr>
          <a:xfrm>
            <a:off x="9994392" y="3172968"/>
            <a:ext cx="457200" cy="365760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 algn="ctr">
              <a:defRPr b="1" sz="2200">
                <a:solidFill>
                  <a:srgbClr val="FFAE3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48668" name="Rounded Rectangle 52"/>
          <p:cNvSpPr/>
          <p:nvPr/>
        </p:nvSpPr>
        <p:spPr>
          <a:xfrm>
            <a:off x="10195560" y="2743200"/>
            <a:ext cx="1417320" cy="1417320"/>
          </a:xfrm>
          <a:prstGeom prst="roundRect">
            <a:avLst>
              <a:gd name="adj" fmla="val 12000"/>
            </a:avLst>
          </a:prstGeom>
          <a:solidFill>
            <a:srgbClr val="0F1839"/>
          </a:solidFill>
          <a:ln>
            <a:solidFill>
              <a:srgbClr val="2B3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9" name="TextBox 53"/>
          <p:cNvSpPr txBox="1"/>
          <p:nvPr/>
        </p:nvSpPr>
        <p:spPr>
          <a:xfrm>
            <a:off x="10287000" y="2907792"/>
            <a:ext cx="1234440" cy="385064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 algn="ctr">
              <a:defRPr b="1" sz="1150">
                <a:solidFill>
                  <a:srgbClr val="23DC87"/>
                </a:solidFill>
                <a:latin typeface="Aptos"/>
              </a:defRPr>
            </a:pPr>
            <a:r>
              <a:t>ROADMAP OUTPUT</a:t>
            </a:r>
          </a:p>
        </p:txBody>
      </p:sp>
      <p:sp>
        <p:nvSpPr>
          <p:cNvPr id="1048670" name="TextBox 54"/>
          <p:cNvSpPr txBox="1"/>
          <p:nvPr/>
        </p:nvSpPr>
        <p:spPr>
          <a:xfrm>
            <a:off x="10305288" y="3310128"/>
            <a:ext cx="1197864" cy="308865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 algn="ctr">
              <a:defRPr b="0" sz="950">
                <a:solidFill>
                  <a:srgbClr val="F8FAFF"/>
                </a:solidFill>
                <a:latin typeface="Aptos"/>
              </a:defRPr>
            </a:pPr>
            <a:r>
              <a:t>Step-by-step plan + official links</a:t>
            </a:r>
          </a:p>
        </p:txBody>
      </p:sp>
      <p:sp>
        <p:nvSpPr>
          <p:cNvPr id="1048671" name="Rounded Rectangle 55"/>
          <p:cNvSpPr/>
          <p:nvPr/>
        </p:nvSpPr>
        <p:spPr>
          <a:xfrm>
            <a:off x="914400" y="4617720"/>
            <a:ext cx="3063240" cy="1143000"/>
          </a:xfrm>
          <a:prstGeom prst="roundRect">
            <a:avLst>
              <a:gd name="adj" fmla="val 12000"/>
            </a:avLst>
          </a:prstGeom>
          <a:solidFill>
            <a:srgbClr val="0F1839"/>
          </a:solidFill>
          <a:ln>
            <a:solidFill>
              <a:srgbClr val="26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2" name="TextBox 56"/>
          <p:cNvSpPr txBox="1"/>
          <p:nvPr/>
        </p:nvSpPr>
        <p:spPr>
          <a:xfrm>
            <a:off x="1078992" y="4709159"/>
            <a:ext cx="2734056" cy="283465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>
              <a:defRPr b="1" sz="1500">
                <a:solidFill>
                  <a:srgbClr val="17C4FF"/>
                </a:solidFill>
                <a:latin typeface="Aptos"/>
              </a:defRPr>
            </a:pPr>
            <a:r>
              <a:t>DATA LAYER</a:t>
            </a:r>
          </a:p>
        </p:txBody>
      </p:sp>
      <p:sp>
        <p:nvSpPr>
          <p:cNvPr id="1048673" name="TextBox 57"/>
          <p:cNvSpPr txBox="1"/>
          <p:nvPr/>
        </p:nvSpPr>
        <p:spPr>
          <a:xfrm>
            <a:off x="1078992" y="5074920"/>
            <a:ext cx="2734056" cy="4343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500"/>
              </a:spcAft>
              <a:defRPr sz="1050">
                <a:solidFill>
                  <a:srgbClr val="F8FAFF"/>
                </a:solidFill>
                <a:latin typeface="Aptos"/>
              </a:defRPr>
            </a:pPr>
            <a:r>
              <a:t>• Curated opportunity catalogue</a:t>
            </a:r>
          </a:p>
          <a:p>
            <a:pPr>
              <a:spcAft>
                <a:spcPts val="500"/>
              </a:spcAft>
              <a:defRPr sz="1050">
                <a:solidFill>
                  <a:srgbClr val="F8FAFF"/>
                </a:solidFill>
                <a:latin typeface="Aptos"/>
              </a:defRPr>
            </a:pPr>
            <a:r>
              <a:t>• Eligibility + roadmap metadata</a:t>
            </a:r>
          </a:p>
        </p:txBody>
      </p:sp>
      <p:sp>
        <p:nvSpPr>
          <p:cNvPr id="1048674" name="Rounded Rectangle 58"/>
          <p:cNvSpPr/>
          <p:nvPr/>
        </p:nvSpPr>
        <p:spPr>
          <a:xfrm>
            <a:off x="4251960" y="4617720"/>
            <a:ext cx="3063240" cy="1143000"/>
          </a:xfrm>
          <a:prstGeom prst="roundRect">
            <a:avLst>
              <a:gd name="adj" fmla="val 12000"/>
            </a:avLst>
          </a:prstGeom>
          <a:solidFill>
            <a:srgbClr val="0F1839"/>
          </a:solidFill>
          <a:ln>
            <a:solidFill>
              <a:srgbClr val="26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5" name="TextBox 59"/>
          <p:cNvSpPr txBox="1"/>
          <p:nvPr/>
        </p:nvSpPr>
        <p:spPr>
          <a:xfrm>
            <a:off x="4416552" y="4709159"/>
            <a:ext cx="2734056" cy="283465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>
              <a:defRPr b="1" sz="1500">
                <a:solidFill>
                  <a:srgbClr val="A84BFF"/>
                </a:solidFill>
                <a:latin typeface="Aptos"/>
              </a:defRPr>
            </a:pPr>
            <a:r>
              <a:t>APPLICATION LAYER</a:t>
            </a:r>
          </a:p>
        </p:txBody>
      </p:sp>
      <p:sp>
        <p:nvSpPr>
          <p:cNvPr id="1048676" name="TextBox 60"/>
          <p:cNvSpPr txBox="1"/>
          <p:nvPr/>
        </p:nvSpPr>
        <p:spPr>
          <a:xfrm>
            <a:off x="4416552" y="5074920"/>
            <a:ext cx="2734056" cy="4343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500"/>
              </a:spcAft>
              <a:defRPr sz="1050">
                <a:solidFill>
                  <a:srgbClr val="F8FAFF"/>
                </a:solidFill>
                <a:latin typeface="Aptos"/>
              </a:defRPr>
            </a:pPr>
            <a:r>
              <a:t>• Responsive HTML/CSS/JS</a:t>
            </a:r>
          </a:p>
          <a:p>
            <a:pPr>
              <a:spcAft>
                <a:spcPts val="500"/>
              </a:spcAft>
              <a:defRPr sz="1050">
                <a:solidFill>
                  <a:srgbClr val="F8FAFF"/>
                </a:solidFill>
                <a:latin typeface="Aptos"/>
              </a:defRPr>
            </a:pPr>
            <a:r>
              <a:t>• Profile storage + search/filter</a:t>
            </a:r>
          </a:p>
        </p:txBody>
      </p:sp>
      <p:sp>
        <p:nvSpPr>
          <p:cNvPr id="1048677" name="Rounded Rectangle 61"/>
          <p:cNvSpPr/>
          <p:nvPr/>
        </p:nvSpPr>
        <p:spPr>
          <a:xfrm>
            <a:off x="7589520" y="4617720"/>
            <a:ext cx="3063240" cy="1143000"/>
          </a:xfrm>
          <a:prstGeom prst="roundRect">
            <a:avLst>
              <a:gd name="adj" fmla="val 12000"/>
            </a:avLst>
          </a:prstGeom>
          <a:solidFill>
            <a:srgbClr val="0F1839"/>
          </a:solidFill>
          <a:ln>
            <a:solidFill>
              <a:srgbClr val="26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8" name="TextBox 62"/>
          <p:cNvSpPr txBox="1"/>
          <p:nvPr/>
        </p:nvSpPr>
        <p:spPr>
          <a:xfrm>
            <a:off x="7754112" y="4709159"/>
            <a:ext cx="2734056" cy="283465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>
              <a:defRPr b="1" sz="1500">
                <a:solidFill>
                  <a:srgbClr val="23DC87"/>
                </a:solidFill>
                <a:latin typeface="Aptos"/>
              </a:defRPr>
            </a:pPr>
            <a:r>
              <a:t>SECURITY / TRUST</a:t>
            </a:r>
          </a:p>
        </p:txBody>
      </p:sp>
      <p:sp>
        <p:nvSpPr>
          <p:cNvPr id="1048679" name="TextBox 63"/>
          <p:cNvSpPr txBox="1"/>
          <p:nvPr/>
        </p:nvSpPr>
        <p:spPr>
          <a:xfrm>
            <a:off x="7754112" y="5074920"/>
            <a:ext cx="2734056" cy="4343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500"/>
              </a:spcAft>
              <a:defRPr sz="1050">
                <a:solidFill>
                  <a:srgbClr val="F8FAFF"/>
                </a:solidFill>
                <a:latin typeface="Aptos"/>
              </a:defRPr>
            </a:pPr>
            <a:r>
              <a:t>• Server-side AI key</a:t>
            </a:r>
          </a:p>
          <a:p>
            <a:pPr>
              <a:spcAft>
                <a:spcPts val="500"/>
              </a:spcAft>
              <a:defRPr sz="1050">
                <a:solidFill>
                  <a:srgbClr val="F8FAFF"/>
                </a:solidFill>
                <a:latin typeface="Aptos"/>
              </a:defRPr>
            </a:pPr>
            <a:r>
              <a:t>• Official-source links + verification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44"/>
        </a:solidFill>
        <a:effectLst/>
      </p:bgPr>
    </p:bg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2" name="Image 0" descr="/home/claude/dkte_logo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74320" y="201168"/>
            <a:ext cx="960120" cy="466344"/>
          </a:xfrm>
          <a:prstGeom prst="rect"/>
        </p:spPr>
      </p:pic>
      <p:pic>
        <p:nvPicPr>
          <p:cNvPr id="2097163" name="Image 1" descr="/home/claude/dssa_logo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1384280" y="164592"/>
            <a:ext cx="566928" cy="566928"/>
          </a:xfrm>
          <a:prstGeom prst="rect"/>
        </p:spPr>
      </p:pic>
      <p:sp>
        <p:nvSpPr>
          <p:cNvPr id="1048683" name="Text 0"/>
          <p:cNvSpPr txBox="1"/>
          <p:nvPr/>
        </p:nvSpPr>
        <p:spPr>
          <a:xfrm>
            <a:off x="11475720" y="6309360"/>
            <a:ext cx="548640" cy="36576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9F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dirty="0" sz="1100" lang="en-US"/>
          </a:p>
        </p:txBody>
      </p:sp>
      <p:sp>
        <p:nvSpPr>
          <p:cNvPr id="1048684" name="Shape 1"/>
          <p:cNvSpPr/>
          <p:nvPr/>
        </p:nvSpPr>
        <p:spPr>
          <a:xfrm>
            <a:off x="502920" y="868680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</p:spPr>
        <p:txBody>
          <a:bodyPr/>
          <a:p/>
        </p:txBody>
      </p:sp>
      <p:sp>
        <p:nvSpPr>
          <p:cNvPr id="1048685" name="Text 2"/>
          <p:cNvSpPr txBox="1"/>
          <p:nvPr/>
        </p:nvSpPr>
        <p:spPr>
          <a:xfrm>
            <a:off x="502920" y="868680"/>
            <a:ext cx="457200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dirty="0" sz="1300" lang="en-US"/>
          </a:p>
        </p:txBody>
      </p:sp>
      <p:sp>
        <p:nvSpPr>
          <p:cNvPr id="1048686" name="Text 3"/>
          <p:cNvSpPr txBox="1"/>
          <p:nvPr/>
        </p:nvSpPr>
        <p:spPr>
          <a:xfrm>
            <a:off x="1097280" y="832104"/>
            <a:ext cx="8229600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dirty="0" sz="2000" lang="en-US"/>
          </a:p>
        </p:txBody>
      </p:sp>
      <p:sp>
        <p:nvSpPr>
          <p:cNvPr id="1048687" name="Text 4"/>
          <p:cNvSpPr txBox="1"/>
          <p:nvPr/>
        </p:nvSpPr>
        <p:spPr>
          <a:xfrm>
            <a:off x="502920" y="6510528"/>
            <a:ext cx="4572000" cy="274320"/>
          </a:xfrm>
          <a:prstGeom prst="rect"/>
          <a:noFill/>
        </p:spPr>
        <p:txBody>
          <a:bodyPr anchor="ctr" bIns="0" lIns="0" rIns="0" rtlCol="0" tIns="0" wrap="square"/>
          <a:p>
            <a:r>
              <a:t>Team Name: CarrierPilot Team</a:t>
            </a:r>
          </a:p>
        </p:txBody>
      </p:sp>
      <p:pic>
        <p:nvPicPr>
          <p:cNvPr id="2097164" name="Picture 29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-4894" y="-10264"/>
            <a:ext cx="12178234" cy="6858000"/>
          </a:xfrm>
          <a:prstGeom prst="rect"/>
        </p:spPr>
      </p:pic>
      <p:pic>
        <p:nvPicPr>
          <p:cNvPr id="2097165" name="Picture 31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rcRect t="26894" b="34150"/>
          <a:stretch>
            <a:fillRect/>
          </a:stretch>
        </p:blipFill>
        <p:spPr>
          <a:xfrm>
            <a:off x="2694" y="73152"/>
            <a:ext cx="1766285" cy="688075"/>
          </a:xfrm>
          <a:prstGeom prst="rect"/>
        </p:spPr>
      </p:pic>
      <p:pic>
        <p:nvPicPr>
          <p:cNvPr id="2097166" name="Picture 33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11031318" y="10264"/>
            <a:ext cx="954786" cy="945276"/>
          </a:xfrm>
          <a:prstGeom prst="rect"/>
        </p:spPr>
      </p:pic>
      <p:sp>
        <p:nvSpPr>
          <p:cNvPr id="1048688" name="TextBox 40"/>
          <p:cNvSpPr txBox="1"/>
          <p:nvPr/>
        </p:nvSpPr>
        <p:spPr>
          <a:xfrm>
            <a:off x="1097280" y="1143000"/>
            <a:ext cx="8229600" cy="457200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>
              <a:defRPr b="1" sz="2700">
                <a:solidFill>
                  <a:srgbClr val="17C4FF"/>
                </a:solidFill>
                <a:latin typeface="Aptos"/>
              </a:defRPr>
            </a:pPr>
            <a:r>
              <a:t>IMPACT &amp; BENEFITS</a:t>
            </a:r>
          </a:p>
        </p:txBody>
      </p:sp>
      <p:sp>
        <p:nvSpPr>
          <p:cNvPr id="1048689" name="Rounded Rectangle 41"/>
          <p:cNvSpPr/>
          <p:nvPr/>
        </p:nvSpPr>
        <p:spPr>
          <a:xfrm>
            <a:off x="793569" y="1709928"/>
            <a:ext cx="5074920" cy="2057400"/>
          </a:xfrm>
          <a:prstGeom prst="roundRect">
            <a:avLst>
              <a:gd name="adj" fmla="val 12000"/>
            </a:avLst>
          </a:prstGeom>
          <a:solidFill>
            <a:srgbClr val="0F1839"/>
          </a:solidFill>
          <a:ln>
            <a:solidFill>
              <a:srgbClr val="26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0" name="TextBox 42"/>
          <p:cNvSpPr txBox="1"/>
          <p:nvPr/>
        </p:nvSpPr>
        <p:spPr>
          <a:xfrm>
            <a:off x="1109472" y="1837945"/>
            <a:ext cx="4745736" cy="283465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>
              <a:defRPr b="1" sz="1500">
                <a:solidFill>
                  <a:srgbClr val="4655FF"/>
                </a:solidFill>
                <a:latin typeface="Aptos"/>
              </a:defRPr>
            </a:pPr>
            <a:r>
              <a:t>TECHNOLOGICAL STACK</a:t>
            </a:r>
          </a:p>
        </p:txBody>
      </p:sp>
      <p:sp>
        <p:nvSpPr>
          <p:cNvPr id="1048691" name="TextBox 43"/>
          <p:cNvSpPr txBox="1"/>
          <p:nvPr/>
        </p:nvSpPr>
        <p:spPr>
          <a:xfrm>
            <a:off x="987552" y="2205979"/>
            <a:ext cx="4745736" cy="12344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500"/>
              </a:spcAft>
              <a:defRPr sz="1200">
                <a:solidFill>
                  <a:srgbClr val="F8FAFF"/>
                </a:solidFill>
                <a:latin typeface="Aptos"/>
              </a:defRPr>
            </a:pPr>
            <a:r>
              <a:t>• Frontend: HTML5 • CSS3 • JavaScript</a:t>
            </a:r>
          </a:p>
          <a:p>
            <a:pPr>
              <a:spcAft>
                <a:spcPts val="500"/>
              </a:spcAft>
              <a:defRPr sz="1200">
                <a:solidFill>
                  <a:srgbClr val="F8FAFF"/>
                </a:solidFill>
                <a:latin typeface="Aptos"/>
              </a:defRPr>
            </a:pPr>
            <a:r>
              <a:t>• AI: server-side OpenAI Responses API</a:t>
            </a:r>
          </a:p>
          <a:p>
            <a:pPr>
              <a:spcAft>
                <a:spcPts val="500"/>
              </a:spcAft>
              <a:defRPr sz="1200">
                <a:solidFill>
                  <a:srgbClr val="F8FAFF"/>
                </a:solidFill>
                <a:latin typeface="Aptos"/>
              </a:defRPr>
            </a:pPr>
            <a:r>
              <a:t>• Deployment-ready: Vercel / Netlify</a:t>
            </a:r>
          </a:p>
          <a:p>
            <a:pPr>
              <a:spcAft>
                <a:spcPts val="500"/>
              </a:spcAft>
              <a:defRPr sz="1200">
                <a:solidFill>
                  <a:srgbClr val="F8FAFF"/>
                </a:solidFill>
                <a:latin typeface="Aptos"/>
              </a:defRPr>
            </a:pPr>
            <a:r>
              <a:t>• Data: structured career &amp; opportunity catalogue</a:t>
            </a:r>
          </a:p>
          <a:p>
            <a:pPr>
              <a:spcAft>
                <a:spcPts val="500"/>
              </a:spcAft>
              <a:defRPr sz="1200">
                <a:solidFill>
                  <a:srgbClr val="F8FAFF"/>
                </a:solidFill>
                <a:latin typeface="Aptos"/>
              </a:defRPr>
            </a:pPr>
            <a:r>
              <a:t>• Security: server-side API key + safe error handling</a:t>
            </a:r>
          </a:p>
        </p:txBody>
      </p:sp>
      <p:sp>
        <p:nvSpPr>
          <p:cNvPr id="1048692" name="Rounded Rectangle 44"/>
          <p:cNvSpPr/>
          <p:nvPr/>
        </p:nvSpPr>
        <p:spPr>
          <a:xfrm>
            <a:off x="6172200" y="1783080"/>
            <a:ext cx="5074920" cy="2057400"/>
          </a:xfrm>
          <a:prstGeom prst="roundRect">
            <a:avLst>
              <a:gd name="adj" fmla="val 12000"/>
            </a:avLst>
          </a:prstGeom>
          <a:solidFill>
            <a:srgbClr val="0F1839"/>
          </a:solidFill>
          <a:ln>
            <a:solidFill>
              <a:srgbClr val="26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3" name="TextBox 45"/>
          <p:cNvSpPr txBox="1"/>
          <p:nvPr/>
        </p:nvSpPr>
        <p:spPr>
          <a:xfrm>
            <a:off x="6336792" y="1874519"/>
            <a:ext cx="4745736" cy="283464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>
              <a:defRPr b="1" sz="1500">
                <a:solidFill>
                  <a:srgbClr val="23DC87"/>
                </a:solidFill>
                <a:latin typeface="Aptos"/>
              </a:defRPr>
            </a:pPr>
            <a:r>
              <a:t>IMPACT</a:t>
            </a:r>
          </a:p>
        </p:txBody>
      </p:sp>
      <p:sp>
        <p:nvSpPr>
          <p:cNvPr id="1048694" name="TextBox 46"/>
          <p:cNvSpPr txBox="1"/>
          <p:nvPr/>
        </p:nvSpPr>
        <p:spPr>
          <a:xfrm>
            <a:off x="6336792" y="2240280"/>
            <a:ext cx="4745736" cy="11709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500"/>
              </a:spcAft>
              <a:defRPr sz="1200">
                <a:solidFill>
                  <a:srgbClr val="F8FAFF"/>
                </a:solidFill>
                <a:latin typeface="Aptos"/>
              </a:defRPr>
            </a:pPr>
            <a:r>
              <a:t>• One starting point for learners from any stream or qualification.</a:t>
            </a:r>
          </a:p>
          <a:p>
            <a:pPr>
              <a:spcAft>
                <a:spcPts val="500"/>
              </a:spcAft>
              <a:defRPr sz="1200">
                <a:solidFill>
                  <a:srgbClr val="F8FAFF"/>
                </a:solidFill>
                <a:latin typeface="Aptos"/>
              </a:defRPr>
            </a:pPr>
            <a:r>
              <a:t>• Reduces information fragmentation and decision friction.</a:t>
            </a:r>
          </a:p>
          <a:p>
            <a:pPr>
              <a:spcAft>
                <a:spcPts val="500"/>
              </a:spcAft>
              <a:defRPr sz="1200">
                <a:solidFill>
                  <a:srgbClr val="F8FAFF"/>
                </a:solidFill>
                <a:latin typeface="Aptos"/>
              </a:defRPr>
            </a:pPr>
            <a:r>
              <a:t>• Connects government exams, higher education, skills and private jobs.</a:t>
            </a:r>
          </a:p>
          <a:p>
            <a:pPr>
              <a:spcAft>
                <a:spcPts val="500"/>
              </a:spcAft>
              <a:defRPr sz="1200">
                <a:solidFill>
                  <a:srgbClr val="F8FAFF"/>
                </a:solidFill>
                <a:latin typeface="Aptos"/>
              </a:defRPr>
            </a:pPr>
            <a:r>
              <a:t>• Makes career planning actionable instead of only informational.</a:t>
            </a:r>
          </a:p>
        </p:txBody>
      </p:sp>
      <p:sp>
        <p:nvSpPr>
          <p:cNvPr id="1048695" name="Rounded Rectangle 47"/>
          <p:cNvSpPr/>
          <p:nvPr/>
        </p:nvSpPr>
        <p:spPr>
          <a:xfrm>
            <a:off x="780288" y="4088674"/>
            <a:ext cx="5074920" cy="1508760"/>
          </a:xfrm>
          <a:prstGeom prst="roundRect">
            <a:avLst>
              <a:gd name="adj" fmla="val 12000"/>
            </a:avLst>
          </a:prstGeom>
          <a:solidFill>
            <a:srgbClr val="0F1839"/>
          </a:solidFill>
          <a:ln>
            <a:solidFill>
              <a:srgbClr val="26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6" name="TextBox 48"/>
          <p:cNvSpPr txBox="1"/>
          <p:nvPr/>
        </p:nvSpPr>
        <p:spPr>
          <a:xfrm>
            <a:off x="960120" y="4259798"/>
            <a:ext cx="4745736" cy="283465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>
              <a:defRPr b="1" sz="1500">
                <a:solidFill>
                  <a:srgbClr val="FFAE37"/>
                </a:solidFill>
                <a:latin typeface="Aptos"/>
              </a:defRPr>
            </a:pPr>
            <a:r>
              <a:rPr dirty="0"/>
              <a:t>INCLUSIVITY</a:t>
            </a:r>
          </a:p>
        </p:txBody>
      </p:sp>
      <p:sp>
        <p:nvSpPr>
          <p:cNvPr id="1048697" name="TextBox 49"/>
          <p:cNvSpPr txBox="1"/>
          <p:nvPr/>
        </p:nvSpPr>
        <p:spPr>
          <a:xfrm>
            <a:off x="885836" y="4678778"/>
            <a:ext cx="4745736" cy="4851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500"/>
              </a:spcAft>
              <a:defRPr sz="1100">
                <a:solidFill>
                  <a:srgbClr val="F8FAFF"/>
                </a:solidFill>
                <a:latin typeface="Aptos"/>
              </a:defRPr>
            </a:pPr>
            <a:r>
              <a:rPr dirty="0"/>
              <a:t>• 10th/12th • ITI/Diploma • College • Graduate • Career switcher</a:t>
            </a:r>
          </a:p>
          <a:p>
            <a:pPr>
              <a:spcAft>
                <a:spcPts val="500"/>
              </a:spcAft>
              <a:defRPr sz="1100">
                <a:solidFill>
                  <a:srgbClr val="F8FAFF"/>
                </a:solidFill>
                <a:latin typeface="Aptos"/>
              </a:defRPr>
            </a:pPr>
            <a:r>
              <a:rPr dirty="0"/>
              <a:t>• Science • Commerce • Arts • Technical • Healthcare • Any background</a:t>
            </a:r>
          </a:p>
        </p:txBody>
      </p:sp>
      <p:sp>
        <p:nvSpPr>
          <p:cNvPr id="1048698" name="Rounded Rectangle 50"/>
          <p:cNvSpPr/>
          <p:nvPr/>
        </p:nvSpPr>
        <p:spPr>
          <a:xfrm>
            <a:off x="6172200" y="4069080"/>
            <a:ext cx="5074920" cy="1508760"/>
          </a:xfrm>
          <a:prstGeom prst="roundRect">
            <a:avLst>
              <a:gd name="adj" fmla="val 12000"/>
            </a:avLst>
          </a:prstGeom>
          <a:solidFill>
            <a:srgbClr val="0F1839"/>
          </a:solidFill>
          <a:ln>
            <a:solidFill>
              <a:srgbClr val="26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9" name="TextBox 51"/>
          <p:cNvSpPr txBox="1"/>
          <p:nvPr/>
        </p:nvSpPr>
        <p:spPr>
          <a:xfrm>
            <a:off x="6336792" y="4160520"/>
            <a:ext cx="4745736" cy="283465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>
              <a:defRPr b="1" sz="1500">
                <a:solidFill>
                  <a:srgbClr val="A84BFF"/>
                </a:solidFill>
                <a:latin typeface="Aptos"/>
              </a:defRPr>
            </a:pPr>
            <a:r>
              <a:t>SCALABILITY</a:t>
            </a:r>
          </a:p>
        </p:txBody>
      </p:sp>
      <p:sp>
        <p:nvSpPr>
          <p:cNvPr id="1048700" name="TextBox 52"/>
          <p:cNvSpPr txBox="1"/>
          <p:nvPr/>
        </p:nvSpPr>
        <p:spPr>
          <a:xfrm>
            <a:off x="6336792" y="4526280"/>
            <a:ext cx="4745736" cy="6502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500"/>
              </a:spcAft>
              <a:defRPr sz="1100">
                <a:solidFill>
                  <a:srgbClr val="F8FAFF"/>
                </a:solidFill>
                <a:latin typeface="Aptos"/>
              </a:defRPr>
            </a:pPr>
            <a:r>
              <a:t>• New exams, roles, companies and emerging careers can be added as structured records.</a:t>
            </a:r>
          </a:p>
          <a:p>
            <a:pPr>
              <a:spcAft>
                <a:spcPts val="500"/>
              </a:spcAft>
              <a:defRPr sz="1100">
                <a:solidFill>
                  <a:srgbClr val="F8FAFF"/>
                </a:solidFill>
                <a:latin typeface="Aptos"/>
              </a:defRPr>
            </a:pPr>
            <a:r>
              <a:t>• AI assistant can explain any opportunity in natural language.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7" name="Image 0" descr="/home/claude/dkte_logo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74320" y="201168"/>
            <a:ext cx="960120" cy="466344"/>
          </a:xfrm>
          <a:prstGeom prst="rect"/>
        </p:spPr>
      </p:pic>
      <p:pic>
        <p:nvPicPr>
          <p:cNvPr id="2097168" name="Image 1" descr="/home/claude/dssa_logo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1384280" y="164592"/>
            <a:ext cx="566928" cy="566928"/>
          </a:xfrm>
          <a:prstGeom prst="rect"/>
        </p:spPr>
      </p:pic>
      <p:sp>
        <p:nvSpPr>
          <p:cNvPr id="1048704" name="Shape 0"/>
          <p:cNvSpPr/>
          <p:nvPr/>
        </p:nvSpPr>
        <p:spPr>
          <a:xfrm>
            <a:off x="502920" y="868680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</p:spPr>
        <p:txBody>
          <a:bodyPr/>
          <a:p/>
        </p:txBody>
      </p:sp>
      <p:sp>
        <p:nvSpPr>
          <p:cNvPr id="1048705" name="Text 1"/>
          <p:cNvSpPr txBox="1"/>
          <p:nvPr/>
        </p:nvSpPr>
        <p:spPr>
          <a:xfrm>
            <a:off x="502920" y="868680"/>
            <a:ext cx="457200" cy="29260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dirty="0" sz="1300" lang="en-US"/>
          </a:p>
        </p:txBody>
      </p:sp>
      <p:sp>
        <p:nvSpPr>
          <p:cNvPr id="1048706" name="Text 2"/>
          <p:cNvSpPr txBox="1"/>
          <p:nvPr/>
        </p:nvSpPr>
        <p:spPr>
          <a:xfrm>
            <a:off x="1097280" y="832104"/>
            <a:ext cx="8229600" cy="3840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References</a:t>
            </a:r>
            <a:endParaRPr dirty="0" sz="2000" lang="en-US"/>
          </a:p>
        </p:txBody>
      </p:sp>
      <p:sp>
        <p:nvSpPr>
          <p:cNvPr id="1048707" name="Text 3"/>
          <p:cNvSpPr txBox="1"/>
          <p:nvPr/>
        </p:nvSpPr>
        <p:spPr>
          <a:xfrm>
            <a:off x="11475720" y="6309360"/>
            <a:ext cx="548640" cy="36576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9F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dirty="0" sz="1100" lang="en-US"/>
          </a:p>
        </p:txBody>
      </p:sp>
      <p:sp>
        <p:nvSpPr>
          <p:cNvPr id="1048708" name="Text 4"/>
          <p:cNvSpPr txBox="1"/>
          <p:nvPr/>
        </p:nvSpPr>
        <p:spPr>
          <a:xfrm>
            <a:off x="502920" y="6510528"/>
            <a:ext cx="4572000" cy="274320"/>
          </a:xfrm>
          <a:prstGeom prst="rect"/>
          <a:noFill/>
        </p:spPr>
        <p:txBody>
          <a:bodyPr anchor="ctr" bIns="0" lIns="0" rIns="0" rtlCol="0" tIns="0" wrap="square"/>
          <a:p>
            <a:r>
              <a:t>Team Name: CarrierPilot Team</a:t>
            </a:r>
          </a:p>
        </p:txBody>
      </p:sp>
      <p:pic>
        <p:nvPicPr>
          <p:cNvPr id="2097169" name="Picture 22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-4894" y="-10264"/>
            <a:ext cx="12178234" cy="6858000"/>
          </a:xfrm>
          <a:prstGeom prst="rect"/>
        </p:spPr>
      </p:pic>
      <p:pic>
        <p:nvPicPr>
          <p:cNvPr id="2097170" name="Picture 24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rcRect t="26894" b="34150"/>
          <a:stretch>
            <a:fillRect/>
          </a:stretch>
        </p:blipFill>
        <p:spPr>
          <a:xfrm>
            <a:off x="2694" y="73152"/>
            <a:ext cx="1766285" cy="688075"/>
          </a:xfrm>
          <a:prstGeom prst="rect"/>
        </p:spPr>
      </p:pic>
      <p:pic>
        <p:nvPicPr>
          <p:cNvPr id="2097171" name="Picture 26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11031318" y="10264"/>
            <a:ext cx="954786" cy="945276"/>
          </a:xfrm>
          <a:prstGeom prst="rect"/>
        </p:spPr>
      </p:pic>
      <p:sp>
        <p:nvSpPr>
          <p:cNvPr id="1048709" name="Text 2"/>
          <p:cNvSpPr txBox="1"/>
          <p:nvPr/>
        </p:nvSpPr>
        <p:spPr>
          <a:xfrm>
            <a:off x="1615595" y="1644573"/>
            <a:ext cx="6918650" cy="304453"/>
          </a:xfrm>
          <a:prstGeom prst="rect"/>
          <a:noFill/>
        </p:spPr>
        <p:txBody>
          <a:bodyPr anchor="ctr" bIns="0" lIns="0" rIns="0" rtlCol="0" tIns="0" wrap="square"/>
          <a:p>
            <a:r>
              <a:rPr b="1" dirty="0" sz="2000" lang="en-US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link , website URL, documents to be used. </a:t>
            </a:r>
          </a:p>
        </p:txBody>
      </p:sp>
      <p:sp>
        <p:nvSpPr>
          <p:cNvPr id="1048710" name="Shape 0"/>
          <p:cNvSpPr/>
          <p:nvPr/>
        </p:nvSpPr>
        <p:spPr>
          <a:xfrm>
            <a:off x="1076681" y="1642465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</p:spPr>
        <p:txBody>
          <a:bodyPr/>
          <a:p/>
        </p:txBody>
      </p:sp>
      <p:sp>
        <p:nvSpPr>
          <p:cNvPr id="1048711" name="TextBox 32"/>
          <p:cNvSpPr txBox="1"/>
          <p:nvPr/>
        </p:nvSpPr>
        <p:spPr>
          <a:xfrm>
            <a:off x="1148026" y="1596745"/>
            <a:ext cx="314510" cy="701039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sz="2000" lang="en-US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b="1" dirty="0" sz="2000" lang="en-IN">
              <a:solidFill>
                <a:srgbClr val="0A1F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48712" name="TextBox 33"/>
          <p:cNvSpPr txBox="1"/>
          <p:nvPr/>
        </p:nvSpPr>
        <p:spPr>
          <a:xfrm>
            <a:off x="1097280" y="1143000"/>
            <a:ext cx="8229600" cy="423164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>
              <a:defRPr b="1" sz="2500">
                <a:solidFill>
                  <a:srgbClr val="17C4FF"/>
                </a:solidFill>
                <a:latin typeface="Aptos"/>
              </a:defRPr>
            </a:pPr>
            <a:r>
              <a:t>RESEARCH, REFERENCES &amp; DEMO</a:t>
            </a:r>
          </a:p>
        </p:txBody>
      </p:sp>
      <p:sp>
        <p:nvSpPr>
          <p:cNvPr id="1048713" name="Rounded Rectangle 34"/>
          <p:cNvSpPr/>
          <p:nvPr/>
        </p:nvSpPr>
        <p:spPr>
          <a:xfrm>
            <a:off x="6761549" y="2281032"/>
            <a:ext cx="4170541" cy="2682646"/>
          </a:xfrm>
          <a:prstGeom prst="roundRect">
            <a:avLst>
              <a:gd name="adj" fmla="val 12000"/>
            </a:avLst>
          </a:prstGeom>
          <a:solidFill>
            <a:srgbClr val="0F1839"/>
          </a:solidFill>
          <a:ln>
            <a:solidFill>
              <a:srgbClr val="26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/>
          </a:p>
        </p:txBody>
      </p:sp>
      <p:sp>
        <p:nvSpPr>
          <p:cNvPr id="1048714" name="TextBox 35"/>
          <p:cNvSpPr txBox="1"/>
          <p:nvPr/>
        </p:nvSpPr>
        <p:spPr>
          <a:xfrm>
            <a:off x="7217664" y="2436496"/>
            <a:ext cx="4974336" cy="283465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>
              <a:defRPr b="1" sz="1500">
                <a:solidFill>
                  <a:srgbClr val="17C4FF"/>
                </a:solidFill>
                <a:latin typeface="Aptos"/>
              </a:defRPr>
            </a:pPr>
            <a:r>
              <a:rPr dirty="0"/>
              <a:t>OFFICIAL REFERENCE ECOSYSTEM</a:t>
            </a:r>
          </a:p>
        </p:txBody>
      </p:sp>
      <p:sp>
        <p:nvSpPr>
          <p:cNvPr id="1048715" name="TextBox 36"/>
          <p:cNvSpPr txBox="1"/>
          <p:nvPr/>
        </p:nvSpPr>
        <p:spPr>
          <a:xfrm>
            <a:off x="7199004" y="2849804"/>
            <a:ext cx="4974336" cy="1856741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500"/>
              </a:spcAft>
              <a:defRPr sz="1100">
                <a:solidFill>
                  <a:srgbClr val="F8FAFF"/>
                </a:solidFill>
                <a:latin typeface="Aptos"/>
              </a:defRPr>
            </a:pPr>
            <a:r>
              <a:rPr dirty="0"/>
              <a:t>• UPSC — </a:t>
            </a:r>
            <a:r>
              <a:rPr dirty="0" lang="en-US" err="1"/>
              <a:t>upse.gov.in</a:t>
            </a:r>
            <a:endParaRPr dirty="0"/>
          </a:p>
          <a:p>
            <a:pPr>
              <a:spcAft>
                <a:spcPts val="500"/>
              </a:spcAft>
              <a:defRPr sz="1100">
                <a:solidFill>
                  <a:srgbClr val="F8FAFF"/>
                </a:solidFill>
                <a:latin typeface="Aptos"/>
              </a:defRPr>
            </a:pPr>
            <a:r>
              <a:rPr dirty="0"/>
              <a:t>• MPSC — </a:t>
            </a:r>
            <a:r>
              <a:rPr dirty="0" err="1"/>
              <a:t>mpsc.gov.in</a:t>
            </a:r>
            <a:endParaRPr dirty="0"/>
          </a:p>
          <a:p>
            <a:pPr>
              <a:spcAft>
                <a:spcPts val="500"/>
              </a:spcAft>
              <a:defRPr sz="1100">
                <a:solidFill>
                  <a:srgbClr val="F8FAFF"/>
                </a:solidFill>
                <a:latin typeface="Aptos"/>
              </a:defRPr>
            </a:pPr>
            <a:r>
              <a:rPr dirty="0"/>
              <a:t>• SSC — </a:t>
            </a:r>
            <a:r>
              <a:rPr dirty="0" err="1"/>
              <a:t>ssc.gov.in</a:t>
            </a:r>
            <a:endParaRPr dirty="0"/>
          </a:p>
          <a:p>
            <a:pPr>
              <a:spcAft>
                <a:spcPts val="500"/>
              </a:spcAft>
              <a:defRPr sz="1100">
                <a:solidFill>
                  <a:srgbClr val="F8FAFF"/>
                </a:solidFill>
                <a:latin typeface="Aptos"/>
              </a:defRPr>
            </a:pPr>
            <a:r>
              <a:rPr dirty="0"/>
              <a:t>• NTA — </a:t>
            </a:r>
            <a:r>
              <a:rPr dirty="0" err="1"/>
              <a:t>nta.ac.in</a:t>
            </a:r>
            <a:endParaRPr dirty="0"/>
          </a:p>
          <a:p>
            <a:pPr>
              <a:spcAft>
                <a:spcPts val="500"/>
              </a:spcAft>
              <a:defRPr sz="1100">
                <a:solidFill>
                  <a:srgbClr val="F8FAFF"/>
                </a:solidFill>
                <a:latin typeface="Aptos"/>
              </a:defRPr>
            </a:pPr>
            <a:r>
              <a:rPr dirty="0"/>
              <a:t>• IBPS — </a:t>
            </a:r>
            <a:r>
              <a:rPr dirty="0" err="1"/>
              <a:t>ibps.in</a:t>
            </a:r>
            <a:endParaRPr dirty="0"/>
          </a:p>
          <a:p>
            <a:pPr>
              <a:spcAft>
                <a:spcPts val="500"/>
              </a:spcAft>
              <a:defRPr sz="1100">
                <a:solidFill>
                  <a:srgbClr val="F8FAFF"/>
                </a:solidFill>
                <a:latin typeface="Aptos"/>
              </a:defRPr>
            </a:pPr>
            <a:r>
              <a:rPr dirty="0"/>
              <a:t>• SBI Careers — </a:t>
            </a:r>
            <a:r>
              <a:rPr dirty="0" err="1"/>
              <a:t>sbi.co.in</a:t>
            </a:r>
            <a:r>
              <a:rPr dirty="0"/>
              <a:t>/web/careers</a:t>
            </a:r>
          </a:p>
          <a:p>
            <a:pPr>
              <a:spcAft>
                <a:spcPts val="500"/>
              </a:spcAft>
              <a:defRPr sz="1100">
                <a:solidFill>
                  <a:srgbClr val="F8FAFF"/>
                </a:solidFill>
                <a:latin typeface="Aptos"/>
              </a:defRPr>
            </a:pPr>
            <a:r>
              <a:rPr dirty="0"/>
              <a:t>• RBI Careers — </a:t>
            </a:r>
            <a:r>
              <a:rPr dirty="0" err="1"/>
              <a:t>rbi.org.in</a:t>
            </a:r>
            <a:endParaRPr dirty="0"/>
          </a:p>
          <a:p>
            <a:pPr>
              <a:spcAft>
                <a:spcPts val="500"/>
              </a:spcAft>
              <a:defRPr sz="1100">
                <a:solidFill>
                  <a:srgbClr val="F8FAFF"/>
                </a:solidFill>
                <a:latin typeface="Aptos"/>
              </a:defRPr>
            </a:pPr>
            <a:r>
              <a:rPr dirty="0"/>
              <a:t>• Official employer career portals for private jobs</a:t>
            </a:r>
          </a:p>
        </p:txBody>
      </p:sp>
      <p:sp>
        <p:nvSpPr>
          <p:cNvPr id="1048716" name="Rounded Rectangle 40"/>
          <p:cNvSpPr/>
          <p:nvPr/>
        </p:nvSpPr>
        <p:spPr>
          <a:xfrm>
            <a:off x="1277321" y="2348925"/>
            <a:ext cx="4855130" cy="1985080"/>
          </a:xfrm>
          <a:prstGeom prst="roundRect">
            <a:avLst>
              <a:gd name="adj" fmla="val 12000"/>
            </a:avLst>
          </a:prstGeom>
          <a:solidFill>
            <a:srgbClr val="0F1839"/>
          </a:solidFill>
          <a:ln>
            <a:solidFill>
              <a:srgbClr val="263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7" name="TextBox 41"/>
          <p:cNvSpPr txBox="1"/>
          <p:nvPr/>
        </p:nvSpPr>
        <p:spPr>
          <a:xfrm>
            <a:off x="1768979" y="2429012"/>
            <a:ext cx="4654296" cy="283465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>
              <a:defRPr b="1" sz="1500">
                <a:solidFill>
                  <a:srgbClr val="FFAE37"/>
                </a:solidFill>
                <a:latin typeface="Aptos"/>
              </a:defRPr>
            </a:pPr>
            <a:r>
              <a:rPr dirty="0"/>
              <a:t>DEMO / DOCUMENTS</a:t>
            </a:r>
          </a:p>
        </p:txBody>
      </p:sp>
      <p:sp>
        <p:nvSpPr>
          <p:cNvPr id="1048718" name="TextBox 42"/>
          <p:cNvSpPr txBox="1"/>
          <p:nvPr/>
        </p:nvSpPr>
        <p:spPr>
          <a:xfrm>
            <a:off x="1478155" y="2797049"/>
            <a:ext cx="4654296" cy="7518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500"/>
              </a:spcAft>
              <a:defRPr sz="1200">
                <a:solidFill>
                  <a:srgbClr val="F8FAFF"/>
                </a:solidFill>
                <a:latin typeface="Aptos"/>
              </a:defRPr>
            </a:pPr>
            <a:r>
              <a:rPr dirty="0"/>
              <a:t>• Website: </a:t>
            </a:r>
            <a:r>
              <a:rPr dirty="0" lang="en-US"/>
              <a:t>  </a:t>
            </a:r>
            <a:r>
              <a:rPr dirty="0" lang="en-US">
                <a:hlinkClick r:id="rId6"/>
              </a:rPr>
              <a:t>https://carrier-pilot.netlify</a:t>
            </a:r>
            <a:r>
              <a:rPr lang="en-US">
                <a:hlinkClick r:id="rId6"/>
              </a:rPr>
              <a:t>.app</a:t>
            </a:r>
            <a:endParaRPr dirty="0"/>
          </a:p>
          <a:p>
            <a:pPr>
              <a:spcAft>
                <a:spcPts val="500"/>
              </a:spcAft>
              <a:defRPr sz="1200">
                <a:solidFill>
                  <a:srgbClr val="F8FAFF"/>
                </a:solidFill>
                <a:latin typeface="Aptos"/>
              </a:defRPr>
            </a:pPr>
            <a:endParaRPr dirty="0"/>
          </a:p>
          <a:p>
            <a:pPr>
              <a:spcAft>
                <a:spcPts val="500"/>
              </a:spcAft>
              <a:defRPr sz="1200">
                <a:solidFill>
                  <a:srgbClr val="F8FAFF"/>
                </a:solidFill>
                <a:latin typeface="Aptos"/>
              </a:defRPr>
            </a:pPr>
            <a:r>
              <a:rPr dirty="0"/>
              <a:t>• Live deployment URL:</a:t>
            </a:r>
            <a:r>
              <a:rPr dirty="0" lang="en-US"/>
              <a:t> </a:t>
            </a:r>
            <a:r>
              <a:rPr dirty="0"/>
              <a:t> </a:t>
            </a:r>
            <a:r>
              <a:rPr dirty="0" lang="en-US">
                <a:hlinkClick r:id="rId7"/>
              </a:rPr>
              <a:t>https://carrier-pilot.netlify.app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F44"/>
        </a:solidFill>
        <a:effectLst/>
      </p:bgPr>
    </p:bg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2" name="Picture 9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82475" cy="6858000"/>
          </a:xfrm>
          <a:prstGeom prst="rect"/>
        </p:spPr>
      </p:pic>
      <p:sp>
        <p:nvSpPr>
          <p:cNvPr id="1048722" name="Text 2"/>
          <p:cNvSpPr txBox="1"/>
          <p:nvPr/>
        </p:nvSpPr>
        <p:spPr>
          <a:xfrm>
            <a:off x="0" y="2743200"/>
            <a:ext cx="12188952" cy="10058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6000" lang="en-US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dirty="0" sz="6000" lang="en-US">
              <a:solidFill>
                <a:schemeClr val="accent1"/>
              </a:solidFill>
            </a:endParaRPr>
          </a:p>
        </p:txBody>
      </p:sp>
      <p:sp>
        <p:nvSpPr>
          <p:cNvPr id="1048723" name="Text 3"/>
          <p:cNvSpPr txBox="1"/>
          <p:nvPr/>
        </p:nvSpPr>
        <p:spPr>
          <a:xfrm>
            <a:off x="0" y="3794760"/>
            <a:ext cx="12188952" cy="411480"/>
          </a:xfrm>
          <a:prstGeom prst="rect"/>
          <a:noFill/>
        </p:spPr>
        <p:txBody>
          <a:bodyPr anchor="ctr" bIns="0" lIns="0" rIns="0" rtlCol="0" tIns="0" wrap="square"/>
          <a:p>
            <a:r>
              <a:rPr dirty="0" sz="1300" lang="en-US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             				             </a:t>
            </a:r>
            <a:r>
              <a:rPr dirty="0" sz="130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Team Name: </a:t>
            </a:r>
            <a:r>
              <a:rPr dirty="0" sz="1300" lang="en-US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Team Fighters</a:t>
            </a:r>
            <a:r>
              <a:rPr dirty="0" sz="130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|  Team Leader:</a:t>
            </a:r>
            <a:r>
              <a:rPr dirty="0" sz="1300" lang="en-US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Nikhil Amte</a:t>
            </a:r>
            <a:r>
              <a:rPr dirty="0" sz="130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 </a:t>
            </a:r>
          </a:p>
        </p:txBody>
      </p:sp>
      <p:sp>
        <p:nvSpPr>
          <p:cNvPr id="1048724" name="Text 4"/>
          <p:cNvSpPr txBox="1"/>
          <p:nvPr/>
        </p:nvSpPr>
        <p:spPr>
          <a:xfrm>
            <a:off x="-6477" y="6493397"/>
            <a:ext cx="12188952" cy="3200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100" lang="en-US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PRARAMBHA 2.0 — DSSA, Department of AI &amp; DS, D.K.T.E.S. IET, Ichalkaranji</a:t>
            </a:r>
            <a:endParaRPr dirty="0" sz="1100" lang="en-US">
              <a:solidFill>
                <a:srgbClr val="00B0F0"/>
              </a:solidFill>
            </a:endParaRPr>
          </a:p>
        </p:txBody>
      </p:sp>
      <p:pic>
        <p:nvPicPr>
          <p:cNvPr id="2097173" name="Picture 16" descr="1000161755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927112" y="1252765"/>
            <a:ext cx="2212723" cy="1297291"/>
          </a:xfrm>
          <a:prstGeom prst="rect"/>
        </p:spPr>
      </p:pic>
      <p:sp>
        <p:nvSpPr>
          <p:cNvPr id="1048725" name="TextBox 17"/>
          <p:cNvSpPr txBox="1"/>
          <p:nvPr/>
        </p:nvSpPr>
        <p:spPr>
          <a:xfrm>
            <a:off x="914400" y="4617720"/>
            <a:ext cx="10332720" cy="393954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 algn="ctr">
              <a:defRPr b="1" sz="2200">
                <a:solidFill>
                  <a:srgbClr val="17C4FF"/>
                </a:solidFill>
                <a:latin typeface="Aptos"/>
              </a:defRPr>
            </a:pPr>
            <a:r>
              <a:rPr dirty="0"/>
              <a:t>let every learner find a next step.</a:t>
            </a:r>
          </a:p>
        </p:txBody>
      </p:sp>
      <p:sp>
        <p:nvSpPr>
          <p:cNvPr id="1048726" name="TextBox 18"/>
          <p:cNvSpPr txBox="1"/>
          <p:nvPr/>
        </p:nvSpPr>
        <p:spPr>
          <a:xfrm>
            <a:off x="914400" y="5230368"/>
            <a:ext cx="10332720" cy="245365"/>
          </a:xfrm>
          <a:prstGeom prst="rect"/>
          <a:noFill/>
        </p:spPr>
        <p:txBody>
          <a:bodyPr bIns="27432" lIns="27432" rIns="27432" tIns="27432" wrap="square">
            <a:spAutoFit/>
          </a:bodyPr>
          <a:p>
            <a:pPr algn="ctr">
              <a:defRPr b="0" sz="1300">
                <a:solidFill>
                  <a:srgbClr val="F8FAFF"/>
                </a:solidFill>
                <a:latin typeface="Aptos"/>
              </a:defRPr>
            </a:pPr>
            <a:r>
              <a:t>CarrierPilot Team  |  National Hackathon Idea Submission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>
  <Application>Microsoft Macintosh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PptxGenJS Presentation</dc:title>
  <dc:creator>PptxGenJS</dc:creator>
  <cp:lastModifiedBy>Microsoft Office User</cp:lastModifiedBy>
  <dcterms:created xsi:type="dcterms:W3CDTF">2026-09-19T05:33:17Z</dcterms:created>
  <dcterms:modified xsi:type="dcterms:W3CDTF">2026-09-20T16:33:33Z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70a79df53d694d86bf61fbb6ad39ecc4_23</vt:lpwstr>
  </property>
</Properties>
</file>